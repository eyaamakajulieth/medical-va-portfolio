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2" r:id="rId7"/>
    <p:sldId id="263" r:id="rId8"/>
    <p:sldId id="264" r:id="rId9"/>
    <p:sldId id="265" r:id="rId10"/>
    <p:sldId id="268" r:id="rId11"/>
    <p:sldId id="269" r:id="rId12"/>
    <p:sldId id="270" r:id="rId13"/>
    <p:sldId id="271" r:id="rId14"/>
    <p:sldId id="272" r:id="rId15"/>
    <p:sldId id="273" r:id="rId16"/>
    <p:sldId id="274" r:id="rId17"/>
    <p:sldId id="275"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ka Julieth Eya" initials="AE" lastIdx="1" clrIdx="0">
    <p:extLst>
      <p:ext uri="{19B8F6BF-5375-455C-9EA6-DF929625EA0E}">
        <p15:presenceInfo xmlns:p15="http://schemas.microsoft.com/office/powerpoint/2012/main" userId="e0c8aa4afdbc30e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commentAuthors" Target="commentAuthor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03T12:22:02.354" idx="1">
    <p:pos x="2477" y="3514"/>
    <p:text>Mrs. Debby Marcus</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63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comments" Target="../comments/commen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4.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5.xml" /><Relationship Id="rId1" Type="http://schemas.openxmlformats.org/officeDocument/2006/relationships/slideLayout" Target="../slideLayouts/slideLayout1.xml" /><Relationship Id="rId4" Type="http://schemas.openxmlformats.org/officeDocument/2006/relationships/image" Target="../media/image6.png" /></Relationships>
</file>

<file path=ppt/slides/_rels/slide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9.xml" /><Relationship Id="rId1" Type="http://schemas.openxmlformats.org/officeDocument/2006/relationships/slideLayout" Target="../slideLayouts/slideLayout1.xml" /><Relationship Id="rId4" Type="http://schemas.openxmlformats.org/officeDocument/2006/relationships/image" Target="../media/image11.png" /></Relationships>
</file>

<file path=ppt/slides/_rels/slide10.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1.xml" /><Relationship Id="rId1" Type="http://schemas.openxmlformats.org/officeDocument/2006/relationships/slideLayout" Target="../slideLayouts/slideLayout1.xml" /><Relationship Id="rId4" Type="http://schemas.openxmlformats.org/officeDocument/2006/relationships/image" Target="../media/image14.png" /></Relationships>
</file>

<file path=ppt/slides/_rels/slide12.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12.xml" /><Relationship Id="rId1" Type="http://schemas.openxmlformats.org/officeDocument/2006/relationships/slideLayout" Target="../slideLayouts/slideLayout1.xml" /><Relationship Id="rId4" Type="http://schemas.openxmlformats.org/officeDocument/2006/relationships/image" Target="../media/image16.png" /></Relationships>
</file>

<file path=ppt/slides/_rels/slide13.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62F"/>
        </a:solidFill>
        <a:effectLst/>
      </p:bgPr>
    </p:bg>
    <p:spTree>
      <p:nvGrpSpPr>
        <p:cNvPr id="1" name=""/>
        <p:cNvGrpSpPr/>
        <p:nvPr/>
      </p:nvGrpSpPr>
      <p:grpSpPr>
        <a:xfrm>
          <a:off x="0" y="0"/>
          <a:ext cx="0" cy="0"/>
          <a:chOff x="0" y="0"/>
          <a:chExt cx="0" cy="0"/>
        </a:xfrm>
      </p:grpSpPr>
      <p:sp>
        <p:nvSpPr>
          <p:cNvPr id="2" name="Shape 0"/>
          <p:cNvSpPr/>
          <p:nvPr/>
        </p:nvSpPr>
        <p:spPr>
          <a:xfrm>
            <a:off x="-1524" y="0"/>
            <a:ext cx="12188952" cy="6858000"/>
          </a:xfrm>
          <a:prstGeom prst="rect">
            <a:avLst/>
          </a:prstGeom>
          <a:solidFill>
            <a:srgbClr val="07262F"/>
          </a:solidFill>
          <a:ln/>
        </p:spPr>
        <p:txBody>
          <a:bodyPr/>
          <a:lstStyle/>
          <a:p>
            <a:endParaRPr lang="en-US"/>
          </a:p>
        </p:txBody>
      </p:sp>
      <p:sp>
        <p:nvSpPr>
          <p:cNvPr id="3" name="Shape 1"/>
          <p:cNvSpPr/>
          <p:nvPr/>
        </p:nvSpPr>
        <p:spPr>
          <a:xfrm>
            <a:off x="0" y="0"/>
            <a:ext cx="12188952" cy="1796019"/>
          </a:xfrm>
          <a:prstGeom prst="rect">
            <a:avLst/>
          </a:prstGeom>
          <a:solidFill>
            <a:srgbClr val="0B3D4C"/>
          </a:solidFill>
          <a:ln/>
        </p:spPr>
        <p:txBody>
          <a:bodyPr/>
          <a:lstStyle/>
          <a:p>
            <a:endParaRPr lang="en-US"/>
          </a:p>
        </p:txBody>
      </p:sp>
      <p:sp>
        <p:nvSpPr>
          <p:cNvPr id="4" name="Shape 2"/>
          <p:cNvSpPr/>
          <p:nvPr/>
        </p:nvSpPr>
        <p:spPr>
          <a:xfrm>
            <a:off x="6096000" y="-169941"/>
            <a:ext cx="6092952" cy="4206240"/>
          </a:xfrm>
          <a:prstGeom prst="ellipse">
            <a:avLst/>
          </a:prstGeom>
          <a:solidFill>
            <a:srgbClr val="12889E"/>
          </a:solidFill>
          <a:ln/>
        </p:spPr>
        <p:txBody>
          <a:bodyPr/>
          <a:lstStyle/>
          <a:p>
            <a:endParaRPr lang="en-US"/>
          </a:p>
        </p:txBody>
      </p:sp>
      <p:sp>
        <p:nvSpPr>
          <p:cNvPr id="5" name="Shape 3"/>
          <p:cNvSpPr/>
          <p:nvPr/>
        </p:nvSpPr>
        <p:spPr>
          <a:xfrm>
            <a:off x="9966960" y="-303649"/>
            <a:ext cx="2607306" cy="2194560"/>
          </a:xfrm>
          <a:prstGeom prst="ellipse">
            <a:avLst/>
          </a:prstGeom>
          <a:solidFill>
            <a:srgbClr val="4FD1E0"/>
          </a:solidFill>
          <a:ln/>
        </p:spPr>
        <p:txBody>
          <a:bodyPr/>
          <a:lstStyle/>
          <a:p>
            <a:endParaRPr lang="en-US"/>
          </a:p>
        </p:txBody>
      </p:sp>
      <p:sp>
        <p:nvSpPr>
          <p:cNvPr id="7" name="Text 5"/>
          <p:cNvSpPr txBox="1"/>
          <p:nvPr/>
        </p:nvSpPr>
        <p:spPr>
          <a:xfrm>
            <a:off x="777240" y="2415396"/>
            <a:ext cx="4933447" cy="1516524"/>
          </a:xfrm>
          <a:prstGeom prst="rect">
            <a:avLst/>
          </a:prstGeom>
          <a:noFill/>
          <a:ln/>
        </p:spPr>
        <p:txBody>
          <a:bodyPr wrap="square"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Patient Onboarding &amp;</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Scheduling Workflow</a:t>
            </a:r>
            <a:endParaRPr lang="en-US" sz="3600" dirty="0"/>
          </a:p>
        </p:txBody>
      </p:sp>
      <p:sp>
        <p:nvSpPr>
          <p:cNvPr id="8" name="Shape 6"/>
          <p:cNvSpPr/>
          <p:nvPr/>
        </p:nvSpPr>
        <p:spPr>
          <a:xfrm>
            <a:off x="777240" y="4206240"/>
            <a:ext cx="640080" cy="45720"/>
          </a:xfrm>
          <a:prstGeom prst="rect">
            <a:avLst/>
          </a:prstGeom>
          <a:solidFill>
            <a:srgbClr val="4FD1E0"/>
          </a:solidFill>
          <a:ln/>
        </p:spPr>
        <p:txBody>
          <a:bodyPr/>
          <a:lstStyle/>
          <a:p>
            <a:endParaRPr lang="en-US"/>
          </a:p>
        </p:txBody>
      </p:sp>
      <p:sp>
        <p:nvSpPr>
          <p:cNvPr id="9" name="Text 7"/>
          <p:cNvSpPr txBox="1"/>
          <p:nvPr/>
        </p:nvSpPr>
        <p:spPr>
          <a:xfrm>
            <a:off x="822960" y="4937760"/>
            <a:ext cx="9144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Mock Clinic:  </a:t>
            </a:r>
            <a:r>
              <a:rPr lang="en-US" sz="1400" dirty="0">
                <a:solidFill>
                  <a:srgbClr val="F3D9DE"/>
                </a:solidFill>
                <a:latin typeface="Calibri" pitchFamily="34" charset="0"/>
                <a:ea typeface="Calibri" pitchFamily="34" charset="-122"/>
                <a:cs typeface="Calibri" pitchFamily="34" charset="-120"/>
              </a:rPr>
              <a:t>Blossom Women's Health &amp; Wellness Clinic</a:t>
            </a:r>
            <a:endParaRPr lang="en-US" sz="1400" dirty="0"/>
          </a:p>
        </p:txBody>
      </p:sp>
      <p:sp>
        <p:nvSpPr>
          <p:cNvPr id="11" name="Text 9"/>
          <p:cNvSpPr txBox="1"/>
          <p:nvPr/>
        </p:nvSpPr>
        <p:spPr>
          <a:xfrm>
            <a:off x="822960" y="5577840"/>
            <a:ext cx="9144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EHR Platform:  </a:t>
            </a:r>
            <a:r>
              <a:rPr lang="en-US" sz="1400" dirty="0">
                <a:solidFill>
                  <a:srgbClr val="F3D9DE"/>
                </a:solidFill>
                <a:latin typeface="Calibri" pitchFamily="34" charset="0"/>
                <a:ea typeface="Calibri" pitchFamily="34" charset="-122"/>
                <a:cs typeface="Calibri" pitchFamily="34" charset="-120"/>
              </a:rPr>
              <a:t>Therapy Notes (simulation)</a:t>
            </a:r>
            <a:endParaRPr lang="en-US" sz="1400" dirty="0"/>
          </a:p>
        </p:txBody>
      </p:sp>
      <p:pic>
        <p:nvPicPr>
          <p:cNvPr id="13" name="Picture 12">
            <a:extLst>
              <a:ext uri="{FF2B5EF4-FFF2-40B4-BE49-F238E27FC236}">
                <a16:creationId xmlns:a16="http://schemas.microsoft.com/office/drawing/2014/main" id="{3E0A8B2B-C253-4781-950F-7DE104F962BE}"/>
              </a:ext>
            </a:extLst>
          </p:cNvPr>
          <p:cNvPicPr>
            <a:picLocks noChangeAspect="1"/>
          </p:cNvPicPr>
          <p:nvPr/>
        </p:nvPicPr>
        <p:blipFill>
          <a:blip r:embed="rId3"/>
          <a:stretch>
            <a:fillRect/>
          </a:stretch>
        </p:blipFill>
        <p:spPr>
          <a:xfrm>
            <a:off x="6096001" y="1397478"/>
            <a:ext cx="6092952" cy="42062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P</a:t>
            </a:r>
            <a:endParaRPr lang="en-US" sz="1600" dirty="0"/>
          </a:p>
        </p:txBody>
      </p:sp>
      <p:sp>
        <p:nvSpPr>
          <p:cNvPr id="8" name="Text 6"/>
          <p:cNvSpPr txBox="1"/>
          <p:nvPr/>
        </p:nvSpPr>
        <p:spPr>
          <a:xfrm>
            <a:off x="1280160" y="603504"/>
            <a:ext cx="10177272" cy="786384"/>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Mock Patient Persona</a:t>
            </a:r>
            <a:endParaRPr lang="en-US" sz="2200" dirty="0"/>
          </a:p>
        </p:txBody>
      </p:sp>
      <p:sp>
        <p:nvSpPr>
          <p:cNvPr id="9" name="Shape 7"/>
          <p:cNvSpPr/>
          <p:nvPr/>
        </p:nvSpPr>
        <p:spPr>
          <a:xfrm>
            <a:off x="457200" y="1691640"/>
            <a:ext cx="3749040" cy="4617720"/>
          </a:xfrm>
          <a:prstGeom prst="roundRect">
            <a:avLst>
              <a:gd name="adj" fmla="val 2439"/>
            </a:avLst>
          </a:prstGeom>
          <a:solidFill>
            <a:srgbClr val="0B3D4C"/>
          </a:solidFill>
          <a:ln/>
        </p:spPr>
        <p:txBody>
          <a:bodyPr/>
          <a:lstStyle/>
          <a:p>
            <a:endParaRPr lang="en-US"/>
          </a:p>
        </p:txBody>
      </p:sp>
      <p:sp>
        <p:nvSpPr>
          <p:cNvPr id="14" name="Shape 12"/>
          <p:cNvSpPr/>
          <p:nvPr/>
        </p:nvSpPr>
        <p:spPr>
          <a:xfrm>
            <a:off x="2953512" y="2057400"/>
            <a:ext cx="777240" cy="548640"/>
          </a:xfrm>
          <a:prstGeom prst="ellipse">
            <a:avLst/>
          </a:prstGeom>
          <a:solidFill>
            <a:srgbClr val="FFFFFF"/>
          </a:solidFill>
          <a:ln/>
        </p:spPr>
        <p:txBody>
          <a:bodyPr/>
          <a:lstStyle/>
          <a:p>
            <a:endParaRPr lang="en-US"/>
          </a:p>
        </p:txBody>
      </p:sp>
      <p:sp>
        <p:nvSpPr>
          <p:cNvPr id="15" name="Text 13"/>
          <p:cNvSpPr txBox="1"/>
          <p:nvPr/>
        </p:nvSpPr>
        <p:spPr>
          <a:xfrm>
            <a:off x="2953512" y="2057400"/>
            <a:ext cx="777240" cy="548640"/>
          </a:xfrm>
          <a:prstGeom prst="rect">
            <a:avLst/>
          </a:prstGeom>
          <a:noFill/>
          <a:ln/>
        </p:spPr>
        <p:txBody>
          <a:bodyPr wrap="square" rtlCol="0" anchor="ctr"/>
          <a:lstStyle/>
          <a:p>
            <a:pPr marL="0" indent="0" algn="ctr">
              <a:buNone/>
            </a:pPr>
            <a:r>
              <a:rPr lang="en-US" sz="2000" b="1" dirty="0">
                <a:solidFill>
                  <a:srgbClr val="0B3D4C"/>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731520" y="4937760"/>
            <a:ext cx="3200400" cy="640080"/>
          </a:xfrm>
          <a:prstGeom prst="rect">
            <a:avLst/>
          </a:prstGeom>
          <a:noFill/>
          <a:ln/>
        </p:spPr>
        <p:txBody>
          <a:bodyPr wrap="square" rtlCol="0" anchor="ctr"/>
          <a:lstStyle/>
          <a:p>
            <a:pPr marL="0" indent="0" algn="ctr">
              <a:lnSpc>
                <a:spcPct val="110000"/>
              </a:lnSpc>
              <a:buNone/>
            </a:pPr>
            <a:r>
              <a:rPr lang="en-US" sz="1300" i="1" dirty="0">
                <a:solidFill>
                  <a:srgbClr val="F3D9DE"/>
                </a:solidFill>
                <a:latin typeface="Calibri" pitchFamily="34" charset="0"/>
                <a:ea typeface="Calibri" pitchFamily="34" charset="-122"/>
                <a:cs typeface="Calibri" pitchFamily="34" charset="-120"/>
              </a:rPr>
              <a:t>Calling to request an</a:t>
            </a:r>
            <a:endParaRPr lang="en-US" sz="1300" dirty="0"/>
          </a:p>
          <a:p>
            <a:pPr marL="0" indent="0" algn="ctr">
              <a:lnSpc>
                <a:spcPct val="110000"/>
              </a:lnSpc>
              <a:buNone/>
            </a:pPr>
            <a:r>
              <a:rPr lang="en-US" sz="1300" i="1" dirty="0">
                <a:solidFill>
                  <a:srgbClr val="F3D9DE"/>
                </a:solidFill>
                <a:latin typeface="Calibri" pitchFamily="34" charset="0"/>
                <a:ea typeface="Calibri" pitchFamily="34" charset="-122"/>
                <a:cs typeface="Calibri" pitchFamily="34" charset="-120"/>
              </a:rPr>
              <a:t>appointment</a:t>
            </a:r>
            <a:endParaRPr lang="en-US" sz="1300" dirty="0"/>
          </a:p>
        </p:txBody>
      </p:sp>
      <p:sp>
        <p:nvSpPr>
          <p:cNvPr id="17" name="Text 15"/>
          <p:cNvSpPr txBox="1"/>
          <p:nvPr/>
        </p:nvSpPr>
        <p:spPr>
          <a:xfrm>
            <a:off x="731520" y="5577840"/>
            <a:ext cx="3200400" cy="457200"/>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Mrs. Amarachi Okafor</a:t>
            </a:r>
            <a:endParaRPr lang="en-US" sz="1900" dirty="0"/>
          </a:p>
        </p:txBody>
      </p:sp>
      <p:sp>
        <p:nvSpPr>
          <p:cNvPr id="18" name="Shape 16"/>
          <p:cNvSpPr/>
          <p:nvPr/>
        </p:nvSpPr>
        <p:spPr>
          <a:xfrm>
            <a:off x="4572000" y="1691640"/>
            <a:ext cx="7159752" cy="1965960"/>
          </a:xfrm>
          <a:prstGeom prst="roundRect">
            <a:avLst>
              <a:gd name="adj" fmla="val 3721"/>
            </a:avLst>
          </a:prstGeom>
          <a:solidFill>
            <a:srgbClr val="F4FAFB"/>
          </a:solidFill>
          <a:ln w="12700">
            <a:solidFill>
              <a:srgbClr val="D6ECEF"/>
            </a:solidFill>
            <a:prstDash val="solid"/>
          </a:ln>
        </p:spPr>
        <p:txBody>
          <a:bodyPr/>
          <a:lstStyle/>
          <a:p>
            <a:endParaRPr lang="en-US"/>
          </a:p>
        </p:txBody>
      </p:sp>
      <p:sp>
        <p:nvSpPr>
          <p:cNvPr id="19" name="Text 17"/>
          <p:cNvSpPr txBox="1"/>
          <p:nvPr/>
        </p:nvSpPr>
        <p:spPr>
          <a:xfrm>
            <a:off x="4846320" y="1892808"/>
            <a:ext cx="6611112" cy="384048"/>
          </a:xfrm>
          <a:prstGeom prst="rect">
            <a:avLst/>
          </a:prstGeom>
          <a:noFill/>
          <a:ln/>
        </p:spPr>
        <p:txBody>
          <a:bodyPr wrap="square" rtlCol="0" anchor="ctr"/>
          <a:lstStyle/>
          <a:p>
            <a:pPr marL="0" indent="0">
              <a:buNone/>
            </a:pPr>
            <a:r>
              <a:rPr lang="en-US" sz="1350" b="1" dirty="0">
                <a:solidFill>
                  <a:srgbClr val="0B3D4C"/>
                </a:solidFill>
                <a:latin typeface="Calibri" pitchFamily="34" charset="0"/>
                <a:ea typeface="Calibri" pitchFamily="34" charset="-122"/>
                <a:cs typeface="Calibri" pitchFamily="34" charset="-120"/>
              </a:rPr>
              <a:t>Age:  </a:t>
            </a:r>
            <a:r>
              <a:rPr lang="en-US" sz="1350" dirty="0">
                <a:solidFill>
                  <a:srgbClr val="1F2D3D"/>
                </a:solidFill>
                <a:latin typeface="Calibri" pitchFamily="34" charset="0"/>
                <a:ea typeface="Calibri" pitchFamily="34" charset="-122"/>
                <a:cs typeface="Calibri" pitchFamily="34" charset="-120"/>
              </a:rPr>
              <a:t>31</a:t>
            </a:r>
            <a:endParaRPr lang="en-US" sz="1350" dirty="0"/>
          </a:p>
        </p:txBody>
      </p:sp>
      <p:sp>
        <p:nvSpPr>
          <p:cNvPr id="20" name="Text 18"/>
          <p:cNvSpPr txBox="1"/>
          <p:nvPr/>
        </p:nvSpPr>
        <p:spPr>
          <a:xfrm>
            <a:off x="4846320" y="2322576"/>
            <a:ext cx="6611112" cy="384048"/>
          </a:xfrm>
          <a:prstGeom prst="rect">
            <a:avLst/>
          </a:prstGeom>
          <a:noFill/>
          <a:ln/>
        </p:spPr>
        <p:txBody>
          <a:bodyPr wrap="square" rtlCol="0" anchor="ctr"/>
          <a:lstStyle/>
          <a:p>
            <a:pPr marL="0" indent="0">
              <a:buNone/>
            </a:pPr>
            <a:r>
              <a:rPr lang="en-US" sz="1350" b="1" dirty="0">
                <a:solidFill>
                  <a:srgbClr val="0B3D4C"/>
                </a:solidFill>
                <a:latin typeface="Calibri" pitchFamily="34" charset="0"/>
                <a:ea typeface="Calibri" pitchFamily="34" charset="-122"/>
                <a:cs typeface="Calibri" pitchFamily="34" charset="-120"/>
              </a:rPr>
              <a:t>Date of Birth:  </a:t>
            </a:r>
            <a:r>
              <a:rPr lang="en-US" sz="1350" dirty="0">
                <a:solidFill>
                  <a:srgbClr val="1F2D3D"/>
                </a:solidFill>
                <a:latin typeface="Calibri" pitchFamily="34" charset="0"/>
                <a:ea typeface="Calibri" pitchFamily="34" charset="-122"/>
                <a:cs typeface="Calibri" pitchFamily="34" charset="-120"/>
              </a:rPr>
              <a:t>14 March 1995</a:t>
            </a:r>
            <a:endParaRPr lang="en-US" sz="1350" dirty="0"/>
          </a:p>
        </p:txBody>
      </p:sp>
      <p:sp>
        <p:nvSpPr>
          <p:cNvPr id="21" name="Text 19"/>
          <p:cNvSpPr txBox="1"/>
          <p:nvPr/>
        </p:nvSpPr>
        <p:spPr>
          <a:xfrm>
            <a:off x="4846320" y="2752344"/>
            <a:ext cx="6611112" cy="384048"/>
          </a:xfrm>
          <a:prstGeom prst="rect">
            <a:avLst/>
          </a:prstGeom>
          <a:noFill/>
          <a:ln/>
        </p:spPr>
        <p:txBody>
          <a:bodyPr wrap="square" rtlCol="0" anchor="ctr"/>
          <a:lstStyle/>
          <a:p>
            <a:pPr marL="0" indent="0">
              <a:buNone/>
            </a:pPr>
            <a:r>
              <a:rPr lang="en-US" sz="1350" b="1" dirty="0">
                <a:solidFill>
                  <a:srgbClr val="0B3D4C"/>
                </a:solidFill>
                <a:latin typeface="Calibri" pitchFamily="34" charset="0"/>
                <a:ea typeface="Calibri" pitchFamily="34" charset="-122"/>
                <a:cs typeface="Calibri" pitchFamily="34" charset="-120"/>
              </a:rPr>
              <a:t>Phone: </a:t>
            </a:r>
            <a:r>
              <a:rPr lang="en-US" sz="1350" dirty="0">
                <a:solidFill>
                  <a:srgbClr val="0B3D4C"/>
                </a:solidFill>
                <a:latin typeface="Calibri" pitchFamily="34" charset="0"/>
                <a:ea typeface="Calibri" pitchFamily="34" charset="-122"/>
                <a:cs typeface="Calibri" pitchFamily="34" charset="-120"/>
              </a:rPr>
              <a:t>09134567891</a:t>
            </a:r>
            <a:endParaRPr lang="en-US" sz="1350" dirty="0"/>
          </a:p>
        </p:txBody>
      </p:sp>
      <p:sp>
        <p:nvSpPr>
          <p:cNvPr id="22" name="Text 20"/>
          <p:cNvSpPr txBox="1"/>
          <p:nvPr/>
        </p:nvSpPr>
        <p:spPr>
          <a:xfrm>
            <a:off x="4846320" y="3182112"/>
            <a:ext cx="6611112" cy="384048"/>
          </a:xfrm>
          <a:prstGeom prst="rect">
            <a:avLst/>
          </a:prstGeom>
          <a:noFill/>
          <a:ln/>
        </p:spPr>
        <p:txBody>
          <a:bodyPr wrap="square" rtlCol="0" anchor="ctr"/>
          <a:lstStyle/>
          <a:p>
            <a:pPr marL="0" indent="0">
              <a:buNone/>
            </a:pPr>
            <a:r>
              <a:rPr lang="en-US" sz="1350" b="1" dirty="0">
                <a:solidFill>
                  <a:srgbClr val="0B3D4C"/>
                </a:solidFill>
                <a:latin typeface="Calibri" pitchFamily="34" charset="0"/>
                <a:ea typeface="Calibri" pitchFamily="34" charset="-122"/>
                <a:cs typeface="Calibri" pitchFamily="34" charset="-120"/>
              </a:rPr>
              <a:t>Email:  </a:t>
            </a:r>
            <a:r>
              <a:rPr lang="en-US" sz="1350" dirty="0">
                <a:solidFill>
                  <a:srgbClr val="1F2D3D"/>
                </a:solidFill>
                <a:latin typeface="Calibri" pitchFamily="34" charset="0"/>
                <a:ea typeface="Calibri" pitchFamily="34" charset="-122"/>
                <a:cs typeface="Calibri" pitchFamily="34" charset="-120"/>
              </a:rPr>
              <a:t>amara.okafor@example.com</a:t>
            </a:r>
            <a:endParaRPr lang="en-US" sz="1350" dirty="0"/>
          </a:p>
        </p:txBody>
      </p:sp>
      <p:sp>
        <p:nvSpPr>
          <p:cNvPr id="23" name="Text 21"/>
          <p:cNvSpPr txBox="1"/>
          <p:nvPr/>
        </p:nvSpPr>
        <p:spPr>
          <a:xfrm>
            <a:off x="4572000" y="3840480"/>
            <a:ext cx="7159752" cy="365760"/>
          </a:xfrm>
          <a:prstGeom prst="rect">
            <a:avLst/>
          </a:prstGeom>
          <a:noFill/>
          <a:ln/>
        </p:spPr>
        <p:txBody>
          <a:bodyPr wrap="square" rtlCol="0" anchor="ctr"/>
          <a:lstStyle/>
          <a:p>
            <a:pPr marL="0" indent="0">
              <a:buNone/>
            </a:pPr>
            <a:r>
              <a:rPr lang="en-US" sz="1600" b="1" dirty="0">
                <a:solidFill>
                  <a:srgbClr val="12889E"/>
                </a:solidFill>
                <a:latin typeface="Cambria" pitchFamily="34" charset="0"/>
                <a:ea typeface="Cambria" pitchFamily="34" charset="-122"/>
                <a:cs typeface="Cambria" pitchFamily="34" charset="-120"/>
              </a:rPr>
              <a:t>Patient Scenario</a:t>
            </a:r>
            <a:endParaRPr lang="en-US" sz="1600" dirty="0"/>
          </a:p>
        </p:txBody>
      </p:sp>
      <p:sp>
        <p:nvSpPr>
          <p:cNvPr id="24" name="Shape 22"/>
          <p:cNvSpPr/>
          <p:nvPr/>
        </p:nvSpPr>
        <p:spPr>
          <a:xfrm>
            <a:off x="4572000" y="4233672"/>
            <a:ext cx="7159752" cy="2075688"/>
          </a:xfrm>
          <a:prstGeom prst="roundRect">
            <a:avLst>
              <a:gd name="adj" fmla="val 3524"/>
            </a:avLst>
          </a:prstGeom>
          <a:solidFill>
            <a:srgbClr val="E8F5F7"/>
          </a:solidFill>
          <a:ln w="12700">
            <a:solidFill>
              <a:srgbClr val="D6ECEF"/>
            </a:solidFill>
            <a:prstDash val="solid"/>
          </a:ln>
        </p:spPr>
        <p:txBody>
          <a:bodyPr/>
          <a:lstStyle/>
          <a:p>
            <a:endParaRPr lang="en-US"/>
          </a:p>
        </p:txBody>
      </p:sp>
      <p:sp>
        <p:nvSpPr>
          <p:cNvPr id="25" name="Text 23"/>
          <p:cNvSpPr txBox="1"/>
          <p:nvPr/>
        </p:nvSpPr>
        <p:spPr>
          <a:xfrm>
            <a:off x="4846320" y="4233672"/>
            <a:ext cx="6611112" cy="2075688"/>
          </a:xfrm>
          <a:prstGeom prst="rect">
            <a:avLst/>
          </a:prstGeom>
          <a:noFill/>
          <a:ln/>
        </p:spPr>
        <p:txBody>
          <a:bodyPr wrap="square" rtlCol="0" anchor="ctr"/>
          <a:lstStyle/>
          <a:p>
            <a:pPr marL="0" indent="0">
              <a:lnSpc>
                <a:spcPct val="130000"/>
              </a:lnSpc>
              <a:buNone/>
            </a:pPr>
            <a:r>
              <a:rPr lang="en-US" sz="1350" dirty="0">
                <a:solidFill>
                  <a:srgbClr val="1F2D3D"/>
                </a:solidFill>
                <a:latin typeface="Calibri" pitchFamily="34" charset="0"/>
                <a:ea typeface="Calibri" pitchFamily="34" charset="-122"/>
                <a:cs typeface="Calibri" pitchFamily="34" charset="-120"/>
              </a:rPr>
              <a:t>Amarachi is a 31-year-old pregnant (G2P1) woman at approximately 10 weeks gestation. She reaches out to our clinic through our Instagram DMs and requests for facility contact after high profile reviews from celebrities. She later calls in complaining of light pink spotting and mild lower abdominal discomfort. During her pregnancy, she also reports increased anxiety, difficulty adjusting emotionally to the pregnancy, and concerns about balancing pregnancy with work and family responsibilities.</a:t>
            </a:r>
            <a:endParaRPr lang="en-US" sz="1350" dirty="0"/>
          </a:p>
        </p:txBody>
      </p:sp>
      <p:sp>
        <p:nvSpPr>
          <p:cNvPr id="26" name="Text 24"/>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28" name="Picture 27">
            <a:extLst>
              <a:ext uri="{FF2B5EF4-FFF2-40B4-BE49-F238E27FC236}">
                <a16:creationId xmlns:a16="http://schemas.microsoft.com/office/drawing/2014/main" id="{D326F401-E1C9-4714-BB5A-9976B397EA04}"/>
              </a:ext>
            </a:extLst>
          </p:cNvPr>
          <p:cNvPicPr>
            <a:picLocks noChangeAspect="1"/>
          </p:cNvPicPr>
          <p:nvPr/>
        </p:nvPicPr>
        <p:blipFill>
          <a:blip r:embed="rId3"/>
          <a:stretch>
            <a:fillRect/>
          </a:stretch>
        </p:blipFill>
        <p:spPr>
          <a:xfrm>
            <a:off x="886968" y="2677346"/>
            <a:ext cx="2972767" cy="1990986"/>
          </a:xfrm>
          <a:prstGeom prst="rect">
            <a:avLst/>
          </a:prstGeom>
        </p:spPr>
      </p:pic>
      <p:sp>
        <p:nvSpPr>
          <p:cNvPr id="11" name="Text 15">
            <a:extLst>
              <a:ext uri="{FF2B5EF4-FFF2-40B4-BE49-F238E27FC236}">
                <a16:creationId xmlns:a16="http://schemas.microsoft.com/office/drawing/2014/main" id="{8E6A11DC-2FE2-1017-C711-E211D178F47A}"/>
              </a:ext>
            </a:extLst>
          </p:cNvPr>
          <p:cNvSpPr txBox="1"/>
          <p:nvPr/>
        </p:nvSpPr>
        <p:spPr>
          <a:xfrm>
            <a:off x="883920" y="5730240"/>
            <a:ext cx="3200400" cy="457200"/>
          </a:xfrm>
          <a:prstGeom prst="rect">
            <a:avLst/>
          </a:prstGeom>
          <a:noFill/>
          <a:ln/>
        </p:spPr>
        <p:txBody>
          <a:bodyPr wrap="square" rtlCol="0" anchor="ctr"/>
          <a:lstStyle/>
          <a:p>
            <a:pPr marL="0" indent="0" algn="ctr">
              <a:buNone/>
            </a:pP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R</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Workflow Roadmap</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Six phases from first call to appointment-ready patient</a:t>
            </a:r>
            <a:endParaRPr lang="en-US" sz="1150" dirty="0"/>
          </a:p>
        </p:txBody>
      </p:sp>
      <p:sp>
        <p:nvSpPr>
          <p:cNvPr id="10" name="Shape 8"/>
          <p:cNvSpPr/>
          <p:nvPr/>
        </p:nvSpPr>
        <p:spPr>
          <a:xfrm>
            <a:off x="457200" y="1965960"/>
            <a:ext cx="3575304" cy="1417320"/>
          </a:xfrm>
          <a:prstGeom prst="roundRect">
            <a:avLst>
              <a:gd name="adj" fmla="val 5161"/>
            </a:avLst>
          </a:prstGeom>
          <a:solidFill>
            <a:srgbClr val="0B3D4C"/>
          </a:solidFill>
          <a:ln/>
        </p:spPr>
        <p:txBody>
          <a:bodyPr/>
          <a:lstStyle/>
          <a:p>
            <a:endParaRPr lang="en-US"/>
          </a:p>
        </p:txBody>
      </p:sp>
      <p:sp>
        <p:nvSpPr>
          <p:cNvPr id="11" name="Shape 9"/>
          <p:cNvSpPr/>
          <p:nvPr/>
        </p:nvSpPr>
        <p:spPr>
          <a:xfrm>
            <a:off x="1988820" y="1709928"/>
            <a:ext cx="512064" cy="512064"/>
          </a:xfrm>
          <a:prstGeom prst="ellipse">
            <a:avLst/>
          </a:prstGeom>
          <a:solidFill>
            <a:srgbClr val="4FD1E0"/>
          </a:solidFill>
          <a:ln w="25400">
            <a:solidFill>
              <a:srgbClr val="FFFFFF"/>
            </a:solidFill>
            <a:prstDash val="solid"/>
          </a:ln>
        </p:spPr>
        <p:txBody>
          <a:bodyPr/>
          <a:lstStyle/>
          <a:p>
            <a:endParaRPr lang="en-US"/>
          </a:p>
        </p:txBody>
      </p:sp>
      <p:sp>
        <p:nvSpPr>
          <p:cNvPr id="12" name="Text 10"/>
          <p:cNvSpPr txBox="1"/>
          <p:nvPr/>
        </p:nvSpPr>
        <p:spPr>
          <a:xfrm>
            <a:off x="1988820" y="170992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1</a:t>
            </a:r>
            <a:endParaRPr lang="en-US" sz="1800" dirty="0"/>
          </a:p>
        </p:txBody>
      </p:sp>
      <p:sp>
        <p:nvSpPr>
          <p:cNvPr id="13" name="Text 11"/>
          <p:cNvSpPr txBox="1"/>
          <p:nvPr/>
        </p:nvSpPr>
        <p:spPr>
          <a:xfrm>
            <a:off x="594360" y="225856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Patient Calls to</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Request Appointment</a:t>
            </a:r>
            <a:endParaRPr lang="en-US" sz="1300" dirty="0"/>
          </a:p>
        </p:txBody>
      </p:sp>
      <p:sp>
        <p:nvSpPr>
          <p:cNvPr id="14" name="Text 12"/>
          <p:cNvSpPr txBox="1"/>
          <p:nvPr/>
        </p:nvSpPr>
        <p:spPr>
          <a:xfrm>
            <a:off x="4032504" y="2446020"/>
            <a:ext cx="274320" cy="457200"/>
          </a:xfrm>
          <a:prstGeom prst="rect">
            <a:avLst/>
          </a:prstGeom>
          <a:noFill/>
          <a:ln/>
        </p:spPr>
        <p:txBody>
          <a:bodyPr wrap="square" rtlCol="0" anchor="ctr"/>
          <a:lstStyle/>
          <a:p>
            <a:pPr marL="0" indent="0" algn="ctr">
              <a:buNone/>
            </a:pPr>
            <a:r>
              <a:rPr lang="en-US" sz="1800" b="1" dirty="0">
                <a:solidFill>
                  <a:srgbClr val="12889E"/>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306824" y="1965960"/>
            <a:ext cx="3575304" cy="1417320"/>
          </a:xfrm>
          <a:prstGeom prst="roundRect">
            <a:avLst>
              <a:gd name="adj" fmla="val 5161"/>
            </a:avLst>
          </a:prstGeom>
          <a:solidFill>
            <a:srgbClr val="0B3D4C"/>
          </a:solidFill>
          <a:ln/>
        </p:spPr>
        <p:txBody>
          <a:bodyPr/>
          <a:lstStyle/>
          <a:p>
            <a:endParaRPr lang="en-US"/>
          </a:p>
        </p:txBody>
      </p:sp>
      <p:sp>
        <p:nvSpPr>
          <p:cNvPr id="16" name="Shape 14"/>
          <p:cNvSpPr/>
          <p:nvPr/>
        </p:nvSpPr>
        <p:spPr>
          <a:xfrm>
            <a:off x="5838444" y="1709928"/>
            <a:ext cx="512064" cy="512064"/>
          </a:xfrm>
          <a:prstGeom prst="ellipse">
            <a:avLst/>
          </a:prstGeom>
          <a:solidFill>
            <a:srgbClr val="4FD1E0"/>
          </a:solidFill>
          <a:ln w="25400">
            <a:solidFill>
              <a:srgbClr val="FFFFFF"/>
            </a:solidFill>
            <a:prstDash val="solid"/>
          </a:ln>
        </p:spPr>
        <p:txBody>
          <a:bodyPr/>
          <a:lstStyle/>
          <a:p>
            <a:endParaRPr lang="en-US"/>
          </a:p>
        </p:txBody>
      </p:sp>
      <p:sp>
        <p:nvSpPr>
          <p:cNvPr id="17" name="Text 15"/>
          <p:cNvSpPr txBox="1"/>
          <p:nvPr/>
        </p:nvSpPr>
        <p:spPr>
          <a:xfrm>
            <a:off x="5838444" y="170992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2</a:t>
            </a:r>
            <a:endParaRPr lang="en-US" sz="1800" dirty="0"/>
          </a:p>
        </p:txBody>
      </p:sp>
      <p:sp>
        <p:nvSpPr>
          <p:cNvPr id="18" name="Text 16"/>
          <p:cNvSpPr txBox="1"/>
          <p:nvPr/>
        </p:nvSpPr>
        <p:spPr>
          <a:xfrm>
            <a:off x="4443984" y="225856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Patient Profile</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Created</a:t>
            </a:r>
            <a:endParaRPr lang="en-US" sz="1300" dirty="0"/>
          </a:p>
        </p:txBody>
      </p:sp>
      <p:sp>
        <p:nvSpPr>
          <p:cNvPr id="19" name="Text 17"/>
          <p:cNvSpPr txBox="1"/>
          <p:nvPr/>
        </p:nvSpPr>
        <p:spPr>
          <a:xfrm>
            <a:off x="7882128" y="2446020"/>
            <a:ext cx="274320" cy="457200"/>
          </a:xfrm>
          <a:prstGeom prst="rect">
            <a:avLst/>
          </a:prstGeom>
          <a:noFill/>
          <a:ln/>
        </p:spPr>
        <p:txBody>
          <a:bodyPr wrap="square" rtlCol="0" anchor="ctr"/>
          <a:lstStyle/>
          <a:p>
            <a:pPr marL="0" indent="0" algn="ctr">
              <a:buNone/>
            </a:pPr>
            <a:r>
              <a:rPr lang="en-US" sz="1800" b="1" dirty="0">
                <a:solidFill>
                  <a:srgbClr val="12889E"/>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8156448" y="1965960"/>
            <a:ext cx="3575304" cy="1417320"/>
          </a:xfrm>
          <a:prstGeom prst="roundRect">
            <a:avLst>
              <a:gd name="adj" fmla="val 5161"/>
            </a:avLst>
          </a:prstGeom>
          <a:solidFill>
            <a:srgbClr val="0B3D4C"/>
          </a:solidFill>
          <a:ln/>
        </p:spPr>
        <p:txBody>
          <a:bodyPr/>
          <a:lstStyle/>
          <a:p>
            <a:endParaRPr lang="en-US"/>
          </a:p>
        </p:txBody>
      </p:sp>
      <p:sp>
        <p:nvSpPr>
          <p:cNvPr id="21" name="Shape 19"/>
          <p:cNvSpPr/>
          <p:nvPr/>
        </p:nvSpPr>
        <p:spPr>
          <a:xfrm>
            <a:off x="9688068" y="1709928"/>
            <a:ext cx="512064" cy="512064"/>
          </a:xfrm>
          <a:prstGeom prst="ellipse">
            <a:avLst/>
          </a:prstGeom>
          <a:solidFill>
            <a:srgbClr val="4FD1E0"/>
          </a:solidFill>
          <a:ln w="25400">
            <a:solidFill>
              <a:srgbClr val="FFFFFF"/>
            </a:solidFill>
            <a:prstDash val="solid"/>
          </a:ln>
        </p:spPr>
        <p:txBody>
          <a:bodyPr/>
          <a:lstStyle/>
          <a:p>
            <a:endParaRPr lang="en-US"/>
          </a:p>
        </p:txBody>
      </p:sp>
      <p:sp>
        <p:nvSpPr>
          <p:cNvPr id="22" name="Text 20"/>
          <p:cNvSpPr txBox="1"/>
          <p:nvPr/>
        </p:nvSpPr>
        <p:spPr>
          <a:xfrm>
            <a:off x="9688068" y="170992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3</a:t>
            </a:r>
            <a:endParaRPr lang="en-US" sz="1800" dirty="0"/>
          </a:p>
        </p:txBody>
      </p:sp>
      <p:sp>
        <p:nvSpPr>
          <p:cNvPr id="23" name="Text 21"/>
          <p:cNvSpPr txBox="1"/>
          <p:nvPr/>
        </p:nvSpPr>
        <p:spPr>
          <a:xfrm>
            <a:off x="8293608" y="225856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Intake Form &amp;</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Welcome Message Sent</a:t>
            </a:r>
            <a:endParaRPr lang="en-US" sz="1300" dirty="0"/>
          </a:p>
        </p:txBody>
      </p:sp>
      <p:sp>
        <p:nvSpPr>
          <p:cNvPr id="24" name="Shape 22"/>
          <p:cNvSpPr/>
          <p:nvPr/>
        </p:nvSpPr>
        <p:spPr>
          <a:xfrm>
            <a:off x="457200" y="4069080"/>
            <a:ext cx="3575304" cy="1417320"/>
          </a:xfrm>
          <a:prstGeom prst="roundRect">
            <a:avLst>
              <a:gd name="adj" fmla="val 5161"/>
            </a:avLst>
          </a:prstGeom>
          <a:solidFill>
            <a:srgbClr val="12889E"/>
          </a:solidFill>
          <a:ln/>
        </p:spPr>
        <p:txBody>
          <a:bodyPr/>
          <a:lstStyle/>
          <a:p>
            <a:endParaRPr lang="en-US"/>
          </a:p>
        </p:txBody>
      </p:sp>
      <p:sp>
        <p:nvSpPr>
          <p:cNvPr id="25" name="Shape 23"/>
          <p:cNvSpPr/>
          <p:nvPr/>
        </p:nvSpPr>
        <p:spPr>
          <a:xfrm>
            <a:off x="1988820" y="3813048"/>
            <a:ext cx="512064" cy="512064"/>
          </a:xfrm>
          <a:prstGeom prst="ellipse">
            <a:avLst/>
          </a:prstGeom>
          <a:solidFill>
            <a:srgbClr val="4FD1E0"/>
          </a:solidFill>
          <a:ln w="25400">
            <a:solidFill>
              <a:srgbClr val="FFFFFF"/>
            </a:solidFill>
            <a:prstDash val="solid"/>
          </a:ln>
        </p:spPr>
        <p:txBody>
          <a:bodyPr/>
          <a:lstStyle/>
          <a:p>
            <a:endParaRPr lang="en-US"/>
          </a:p>
        </p:txBody>
      </p:sp>
      <p:sp>
        <p:nvSpPr>
          <p:cNvPr id="26" name="Text 24"/>
          <p:cNvSpPr txBox="1"/>
          <p:nvPr/>
        </p:nvSpPr>
        <p:spPr>
          <a:xfrm>
            <a:off x="1988820" y="381304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594360" y="436168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Patient Portal</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Experience</a:t>
            </a:r>
            <a:endParaRPr lang="en-US" sz="1300" dirty="0"/>
          </a:p>
        </p:txBody>
      </p:sp>
      <p:sp>
        <p:nvSpPr>
          <p:cNvPr id="28" name="Text 26"/>
          <p:cNvSpPr txBox="1"/>
          <p:nvPr/>
        </p:nvSpPr>
        <p:spPr>
          <a:xfrm>
            <a:off x="4032504" y="4549140"/>
            <a:ext cx="274320" cy="457200"/>
          </a:xfrm>
          <a:prstGeom prst="rect">
            <a:avLst/>
          </a:prstGeom>
          <a:noFill/>
          <a:ln/>
        </p:spPr>
        <p:txBody>
          <a:bodyPr wrap="square" rtlCol="0" anchor="ctr"/>
          <a:lstStyle/>
          <a:p>
            <a:pPr marL="0" indent="0" algn="ctr">
              <a:buNone/>
            </a:pPr>
            <a:r>
              <a:rPr lang="en-US" sz="1800" b="1" dirty="0">
                <a:solidFill>
                  <a:srgbClr val="12889E"/>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4306824" y="4069080"/>
            <a:ext cx="3575304" cy="1417320"/>
          </a:xfrm>
          <a:prstGeom prst="roundRect">
            <a:avLst>
              <a:gd name="adj" fmla="val 5161"/>
            </a:avLst>
          </a:prstGeom>
          <a:solidFill>
            <a:srgbClr val="12889E"/>
          </a:solidFill>
          <a:ln/>
        </p:spPr>
        <p:txBody>
          <a:bodyPr/>
          <a:lstStyle/>
          <a:p>
            <a:endParaRPr lang="en-US"/>
          </a:p>
        </p:txBody>
      </p:sp>
      <p:sp>
        <p:nvSpPr>
          <p:cNvPr id="30" name="Shape 28"/>
          <p:cNvSpPr/>
          <p:nvPr/>
        </p:nvSpPr>
        <p:spPr>
          <a:xfrm>
            <a:off x="5838444" y="3813048"/>
            <a:ext cx="512064" cy="512064"/>
          </a:xfrm>
          <a:prstGeom prst="ellipse">
            <a:avLst/>
          </a:prstGeom>
          <a:solidFill>
            <a:srgbClr val="4FD1E0"/>
          </a:solidFill>
          <a:ln w="25400">
            <a:solidFill>
              <a:srgbClr val="FFFFFF"/>
            </a:solidFill>
            <a:prstDash val="solid"/>
          </a:ln>
        </p:spPr>
        <p:txBody>
          <a:bodyPr/>
          <a:lstStyle/>
          <a:p>
            <a:endParaRPr lang="en-US"/>
          </a:p>
        </p:txBody>
      </p:sp>
      <p:sp>
        <p:nvSpPr>
          <p:cNvPr id="31" name="Text 29"/>
          <p:cNvSpPr txBox="1"/>
          <p:nvPr/>
        </p:nvSpPr>
        <p:spPr>
          <a:xfrm>
            <a:off x="5838444" y="381304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5</a:t>
            </a:r>
            <a:endParaRPr lang="en-US" sz="1800" dirty="0"/>
          </a:p>
        </p:txBody>
      </p:sp>
      <p:sp>
        <p:nvSpPr>
          <p:cNvPr id="32" name="Text 30"/>
          <p:cNvSpPr txBox="1"/>
          <p:nvPr/>
        </p:nvSpPr>
        <p:spPr>
          <a:xfrm>
            <a:off x="4443984" y="436168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Availability Checked &amp;</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Appointment Scheduled</a:t>
            </a:r>
            <a:endParaRPr lang="en-US" sz="1300" dirty="0"/>
          </a:p>
        </p:txBody>
      </p:sp>
      <p:sp>
        <p:nvSpPr>
          <p:cNvPr id="33" name="Text 31"/>
          <p:cNvSpPr txBox="1"/>
          <p:nvPr/>
        </p:nvSpPr>
        <p:spPr>
          <a:xfrm>
            <a:off x="7882128" y="4549140"/>
            <a:ext cx="274320" cy="457200"/>
          </a:xfrm>
          <a:prstGeom prst="rect">
            <a:avLst/>
          </a:prstGeom>
          <a:noFill/>
          <a:ln/>
        </p:spPr>
        <p:txBody>
          <a:bodyPr wrap="square" rtlCol="0" anchor="ctr"/>
          <a:lstStyle/>
          <a:p>
            <a:pPr marL="0" indent="0" algn="ctr">
              <a:buNone/>
            </a:pPr>
            <a:r>
              <a:rPr lang="en-US" sz="1800" b="1" dirty="0">
                <a:solidFill>
                  <a:srgbClr val="12889E"/>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8156448" y="4069080"/>
            <a:ext cx="3575304" cy="1417320"/>
          </a:xfrm>
          <a:prstGeom prst="roundRect">
            <a:avLst>
              <a:gd name="adj" fmla="val 5161"/>
            </a:avLst>
          </a:prstGeom>
          <a:solidFill>
            <a:srgbClr val="12889E"/>
          </a:solidFill>
          <a:ln/>
        </p:spPr>
        <p:txBody>
          <a:bodyPr/>
          <a:lstStyle/>
          <a:p>
            <a:endParaRPr lang="en-US"/>
          </a:p>
        </p:txBody>
      </p:sp>
      <p:sp>
        <p:nvSpPr>
          <p:cNvPr id="35" name="Shape 33"/>
          <p:cNvSpPr/>
          <p:nvPr/>
        </p:nvSpPr>
        <p:spPr>
          <a:xfrm>
            <a:off x="9688068" y="3813048"/>
            <a:ext cx="512064" cy="512064"/>
          </a:xfrm>
          <a:prstGeom prst="ellipse">
            <a:avLst/>
          </a:prstGeom>
          <a:solidFill>
            <a:srgbClr val="4FD1E0"/>
          </a:solidFill>
          <a:ln w="25400">
            <a:solidFill>
              <a:srgbClr val="FFFFFF"/>
            </a:solidFill>
            <a:prstDash val="solid"/>
          </a:ln>
        </p:spPr>
        <p:txBody>
          <a:bodyPr/>
          <a:lstStyle/>
          <a:p>
            <a:endParaRPr lang="en-US"/>
          </a:p>
        </p:txBody>
      </p:sp>
      <p:sp>
        <p:nvSpPr>
          <p:cNvPr id="36" name="Text 34"/>
          <p:cNvSpPr txBox="1"/>
          <p:nvPr/>
        </p:nvSpPr>
        <p:spPr>
          <a:xfrm>
            <a:off x="9688068" y="3813048"/>
            <a:ext cx="512064" cy="512064"/>
          </a:xfrm>
          <a:prstGeom prst="rect">
            <a:avLst/>
          </a:prstGeom>
          <a:noFill/>
          <a:ln/>
        </p:spPr>
        <p:txBody>
          <a:bodyPr wrap="square" rtlCol="0" anchor="ctr"/>
          <a:lstStyle/>
          <a:p>
            <a:pPr marL="0" indent="0" algn="ctr">
              <a:buNone/>
            </a:pPr>
            <a:r>
              <a:rPr lang="en-US" sz="1800" b="1" dirty="0">
                <a:solidFill>
                  <a:srgbClr val="0B3D4C"/>
                </a:solidFill>
                <a:latin typeface="Calibri" pitchFamily="34" charset="0"/>
                <a:ea typeface="Calibri" pitchFamily="34" charset="-122"/>
                <a:cs typeface="Calibri" pitchFamily="34" charset="-120"/>
              </a:rPr>
              <a:t>6</a:t>
            </a:r>
            <a:endParaRPr lang="en-US" sz="1800" dirty="0"/>
          </a:p>
        </p:txBody>
      </p:sp>
      <p:sp>
        <p:nvSpPr>
          <p:cNvPr id="37" name="Text 35"/>
          <p:cNvSpPr txBox="1"/>
          <p:nvPr/>
        </p:nvSpPr>
        <p:spPr>
          <a:xfrm>
            <a:off x="8293608" y="4361688"/>
            <a:ext cx="3300984" cy="1033272"/>
          </a:xfrm>
          <a:prstGeom prst="rect">
            <a:avLst/>
          </a:prstGeom>
          <a:noFill/>
          <a:ln/>
        </p:spPr>
        <p:txBody>
          <a:bodyPr wrap="square" rtlCol="0" anchor="t"/>
          <a:lstStyle/>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Confirmation &amp;</a:t>
            </a:r>
            <a:endParaRPr lang="en-US" sz="1300" dirty="0"/>
          </a:p>
          <a:p>
            <a:pPr marL="0" indent="0" algn="ctr">
              <a:lnSpc>
                <a:spcPct val="115000"/>
              </a:lnSpc>
              <a:buNone/>
            </a:pPr>
            <a:r>
              <a:rPr lang="en-US" sz="1300" b="1" dirty="0">
                <a:solidFill>
                  <a:srgbClr val="FFFFFF"/>
                </a:solidFill>
                <a:latin typeface="Calibri" pitchFamily="34" charset="0"/>
                <a:ea typeface="Calibri" pitchFamily="34" charset="-122"/>
                <a:cs typeface="Calibri" pitchFamily="34" charset="-120"/>
              </a:rPr>
              <a:t>Pre-Appointment Forms Sent</a:t>
            </a:r>
            <a:endParaRPr lang="en-US" sz="1300" dirty="0"/>
          </a:p>
        </p:txBody>
      </p:sp>
      <p:sp>
        <p:nvSpPr>
          <p:cNvPr id="38" name="Text 3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Requesting the Appointment</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The patient called the clinic to schedule an appointment</a:t>
            </a:r>
            <a:endParaRPr lang="en-US" sz="1150" dirty="0"/>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5180076" y="1810511"/>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5180076" y="1792224"/>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1A</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call received / request logged</a:t>
            </a:r>
            <a:endParaRPr lang="en-US" sz="1150" dirty="0"/>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patient intent noted</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2" name="Picture 31">
            <a:extLst>
              <a:ext uri="{FF2B5EF4-FFF2-40B4-BE49-F238E27FC236}">
                <a16:creationId xmlns:a16="http://schemas.microsoft.com/office/drawing/2014/main" id="{AB19D2D9-A47F-443B-9A86-865392F9872C}"/>
              </a:ext>
            </a:extLst>
          </p:cNvPr>
          <p:cNvPicPr>
            <a:picLocks noChangeAspect="1"/>
          </p:cNvPicPr>
          <p:nvPr/>
        </p:nvPicPr>
        <p:blipFill>
          <a:blip r:embed="rId3"/>
          <a:stretch>
            <a:fillRect/>
          </a:stretch>
        </p:blipFill>
        <p:spPr>
          <a:xfrm>
            <a:off x="640081" y="2240280"/>
            <a:ext cx="6339560" cy="2825496"/>
          </a:xfrm>
          <a:prstGeom prst="rect">
            <a:avLst/>
          </a:prstGeom>
        </p:spPr>
      </p:pic>
      <p:pic>
        <p:nvPicPr>
          <p:cNvPr id="34" name="Picture 33">
            <a:extLst>
              <a:ext uri="{FF2B5EF4-FFF2-40B4-BE49-F238E27FC236}">
                <a16:creationId xmlns:a16="http://schemas.microsoft.com/office/drawing/2014/main" id="{10629FB5-DE33-42FB-8230-96D68423CCFF}"/>
              </a:ext>
            </a:extLst>
          </p:cNvPr>
          <p:cNvPicPr>
            <a:picLocks noChangeAspect="1"/>
          </p:cNvPicPr>
          <p:nvPr/>
        </p:nvPicPr>
        <p:blipFill>
          <a:blip r:embed="rId4"/>
          <a:stretch>
            <a:fillRect/>
          </a:stretch>
        </p:blipFill>
        <p:spPr>
          <a:xfrm>
            <a:off x="7165465" y="2381143"/>
            <a:ext cx="4419983" cy="24614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Patient Profile Creation</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Demographics captured and profile created in the patient portal</a:t>
            </a:r>
            <a:endParaRPr lang="en-US" sz="1150" dirty="0"/>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endParaRPr lang="en-US" sz="1100" dirty="0"/>
          </a:p>
        </p:txBody>
      </p:sp>
      <p:sp>
        <p:nvSpPr>
          <p:cNvPr id="15" name="Shape 13"/>
          <p:cNvSpPr/>
          <p:nvPr/>
        </p:nvSpPr>
        <p:spPr>
          <a:xfrm>
            <a:off x="784816" y="1630697"/>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85800" y="1587737"/>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2A</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dirty="0"/>
              <a:t>Patient Info section where we added patient details</a:t>
            </a:r>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4" name="Shape 22"/>
          <p:cNvSpPr/>
          <p:nvPr/>
        </p:nvSpPr>
        <p:spPr>
          <a:xfrm>
            <a:off x="6419088" y="1648396"/>
            <a:ext cx="2377440" cy="310896"/>
          </a:xfrm>
          <a:prstGeom prst="roundRect">
            <a:avLst>
              <a:gd name="adj" fmla="val 50000"/>
            </a:avLst>
          </a:prstGeom>
          <a:solidFill>
            <a:srgbClr val="0B3D4C"/>
          </a:solidFill>
          <a:ln/>
        </p:spPr>
        <p:txBody>
          <a:bodyPr/>
          <a:lstStyle/>
          <a:p>
            <a:endParaRPr lang="en-US"/>
          </a:p>
        </p:txBody>
      </p:sp>
      <p:sp>
        <p:nvSpPr>
          <p:cNvPr id="25" name="Text 23"/>
          <p:cNvSpPr txBox="1"/>
          <p:nvPr/>
        </p:nvSpPr>
        <p:spPr>
          <a:xfrm>
            <a:off x="6419088" y="1622145"/>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2B</a:t>
            </a:r>
            <a:endParaRPr lang="en-US" sz="105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Patient details updated successfully and save in the system. Any blank will be automatically updated once patient fills the intake forms.</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4" name="Picture 33">
            <a:extLst>
              <a:ext uri="{FF2B5EF4-FFF2-40B4-BE49-F238E27FC236}">
                <a16:creationId xmlns:a16="http://schemas.microsoft.com/office/drawing/2014/main" id="{CF9F6CAF-3520-4196-9DF0-A883C24DE30E}"/>
              </a:ext>
            </a:extLst>
          </p:cNvPr>
          <p:cNvPicPr>
            <a:picLocks noChangeAspect="1"/>
          </p:cNvPicPr>
          <p:nvPr/>
        </p:nvPicPr>
        <p:blipFill>
          <a:blip r:embed="rId3"/>
          <a:stretch>
            <a:fillRect/>
          </a:stretch>
        </p:blipFill>
        <p:spPr>
          <a:xfrm>
            <a:off x="6190029" y="1938644"/>
            <a:ext cx="5792062" cy="3270959"/>
          </a:xfrm>
          <a:prstGeom prst="rect">
            <a:avLst/>
          </a:prstGeom>
        </p:spPr>
      </p:pic>
      <p:pic>
        <p:nvPicPr>
          <p:cNvPr id="36" name="Picture 35">
            <a:extLst>
              <a:ext uri="{FF2B5EF4-FFF2-40B4-BE49-F238E27FC236}">
                <a16:creationId xmlns:a16="http://schemas.microsoft.com/office/drawing/2014/main" id="{1EEBF334-ECEA-4CA6-A92A-4A20DFF6726E}"/>
              </a:ext>
            </a:extLst>
          </p:cNvPr>
          <p:cNvPicPr>
            <a:picLocks noChangeAspect="1"/>
          </p:cNvPicPr>
          <p:nvPr/>
        </p:nvPicPr>
        <p:blipFill>
          <a:blip r:embed="rId4"/>
          <a:stretch>
            <a:fillRect/>
          </a:stretch>
        </p:blipFill>
        <p:spPr>
          <a:xfrm>
            <a:off x="457200" y="1959292"/>
            <a:ext cx="5596238" cy="32436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3</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Intake Form &amp; Welcome Message Sent</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Intake form assigned and welcome message sent to the patient</a:t>
            </a:r>
            <a:endParaRPr lang="en-US" sz="1150" dirty="0"/>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5321962" y="1389888"/>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5248656" y="1383707"/>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3A</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Welcome email and intake forms interface.</a:t>
            </a:r>
            <a:endParaRPr lang="en-US" sz="1150" dirty="0"/>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D46A1533-6BA6-4DBB-9737-B8D485EC0E19}"/>
              </a:ext>
            </a:extLst>
          </p:cNvPr>
          <p:cNvPicPr>
            <a:picLocks noChangeAspect="1"/>
          </p:cNvPicPr>
          <p:nvPr/>
        </p:nvPicPr>
        <p:blipFill>
          <a:blip r:embed="rId3"/>
          <a:stretch>
            <a:fillRect/>
          </a:stretch>
        </p:blipFill>
        <p:spPr>
          <a:xfrm>
            <a:off x="339810" y="1728089"/>
            <a:ext cx="11509332" cy="3447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3</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Intake Form &amp; Welcome Message Sent (cont'd)</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Intake form assigned and welcome message sent to the patient</a:t>
            </a:r>
            <a:endParaRPr lang="en-US" sz="1150" dirty="0"/>
          </a:p>
        </p:txBody>
      </p:sp>
      <p:sp>
        <p:nvSpPr>
          <p:cNvPr id="10" name="Shape 8"/>
          <p:cNvSpPr/>
          <p:nvPr/>
        </p:nvSpPr>
        <p:spPr>
          <a:xfrm>
            <a:off x="457200"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621792" y="1828800"/>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21792"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3C</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Welcome email and patient intake forms sent to Amarachi.</a:t>
            </a:r>
            <a:endParaRPr lang="en-US" sz="1150" dirty="0"/>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4" name="Shape 22"/>
          <p:cNvSpPr/>
          <p:nvPr/>
        </p:nvSpPr>
        <p:spPr>
          <a:xfrm>
            <a:off x="6419088" y="1828800"/>
            <a:ext cx="2377440" cy="310896"/>
          </a:xfrm>
          <a:prstGeom prst="roundRect">
            <a:avLst>
              <a:gd name="adj" fmla="val 50000"/>
            </a:avLst>
          </a:prstGeom>
          <a:solidFill>
            <a:srgbClr val="0B3D4C"/>
          </a:solidFill>
          <a:ln/>
        </p:spPr>
        <p:txBody>
          <a:bodyPr/>
          <a:lstStyle/>
          <a:p>
            <a:endParaRPr lang="en-US"/>
          </a:p>
        </p:txBody>
      </p:sp>
      <p:sp>
        <p:nvSpPr>
          <p:cNvPr id="25" name="Text 23"/>
          <p:cNvSpPr txBox="1"/>
          <p:nvPr/>
        </p:nvSpPr>
        <p:spPr>
          <a:xfrm>
            <a:off x="6419088"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3D</a:t>
            </a:r>
            <a:endParaRPr lang="en-US" sz="105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F3DBC304-FFBD-CC9B-0951-0043E7C19364}"/>
              </a:ext>
            </a:extLst>
          </p:cNvPr>
          <p:cNvPicPr>
            <a:picLocks noChangeAspect="1"/>
          </p:cNvPicPr>
          <p:nvPr/>
        </p:nvPicPr>
        <p:blipFill>
          <a:blip r:embed="rId3"/>
          <a:stretch>
            <a:fillRect/>
          </a:stretch>
        </p:blipFill>
        <p:spPr>
          <a:xfrm>
            <a:off x="457200" y="1700560"/>
            <a:ext cx="11274552" cy="346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4</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Patient Portal Experience</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Patient receives the email, sets a password, and logs in</a:t>
            </a:r>
            <a:endParaRPr lang="en-US" sz="1150" dirty="0"/>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3790188" y="1375627"/>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3557016" y="1426338"/>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4A</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Amarachi’s client portal invitation (Patient View)</a:t>
            </a:r>
            <a:endParaRPr lang="en-US" sz="1150" dirty="0"/>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07B0F2AA-8ED4-4E4F-B876-D4199FCD5C5F}"/>
              </a:ext>
            </a:extLst>
          </p:cNvPr>
          <p:cNvPicPr>
            <a:picLocks noChangeAspect="1"/>
          </p:cNvPicPr>
          <p:nvPr/>
        </p:nvPicPr>
        <p:blipFill>
          <a:blip r:embed="rId3"/>
          <a:stretch>
            <a:fillRect/>
          </a:stretch>
        </p:blipFill>
        <p:spPr>
          <a:xfrm>
            <a:off x="335560" y="1773684"/>
            <a:ext cx="11396192" cy="34160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4</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Patient Portal Experience (cont'd)</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Patient logs in and views the welcome message</a:t>
            </a:r>
            <a:endParaRPr lang="en-US" sz="1150" dirty="0"/>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640080" y="1466412"/>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85800" y="1433281"/>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4C</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Client Portal Login (Amarachi’s view)</a:t>
            </a:r>
            <a:endParaRPr lang="en-US" sz="1150" dirty="0"/>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4" name="Shape 22"/>
          <p:cNvSpPr/>
          <p:nvPr/>
        </p:nvSpPr>
        <p:spPr>
          <a:xfrm>
            <a:off x="8633782" y="1348740"/>
            <a:ext cx="2377440" cy="310896"/>
          </a:xfrm>
          <a:prstGeom prst="roundRect">
            <a:avLst>
              <a:gd name="adj" fmla="val 50000"/>
            </a:avLst>
          </a:prstGeom>
          <a:solidFill>
            <a:srgbClr val="0B3D4C"/>
          </a:solidFill>
          <a:ln/>
        </p:spPr>
        <p:txBody>
          <a:bodyPr/>
          <a:lstStyle/>
          <a:p>
            <a:endParaRPr lang="en-US"/>
          </a:p>
        </p:txBody>
      </p:sp>
      <p:sp>
        <p:nvSpPr>
          <p:cNvPr id="25" name="Text 23"/>
          <p:cNvSpPr txBox="1"/>
          <p:nvPr/>
        </p:nvSpPr>
        <p:spPr>
          <a:xfrm>
            <a:off x="8633782" y="1320027"/>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4D</a:t>
            </a:r>
            <a:endParaRPr lang="en-US" sz="105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9EDBC01A-F0E0-44C6-AA56-8BE5A09D128B}"/>
              </a:ext>
            </a:extLst>
          </p:cNvPr>
          <p:cNvPicPr>
            <a:picLocks noChangeAspect="1"/>
          </p:cNvPicPr>
          <p:nvPr/>
        </p:nvPicPr>
        <p:blipFill>
          <a:blip r:embed="rId3"/>
          <a:stretch>
            <a:fillRect/>
          </a:stretch>
        </p:blipFill>
        <p:spPr>
          <a:xfrm>
            <a:off x="525780" y="1856338"/>
            <a:ext cx="5591556" cy="3401462"/>
          </a:xfrm>
          <a:prstGeom prst="rect">
            <a:avLst/>
          </a:prstGeom>
        </p:spPr>
      </p:pic>
      <p:pic>
        <p:nvPicPr>
          <p:cNvPr id="32" name="Picture 31">
            <a:extLst>
              <a:ext uri="{FF2B5EF4-FFF2-40B4-BE49-F238E27FC236}">
                <a16:creationId xmlns:a16="http://schemas.microsoft.com/office/drawing/2014/main" id="{9CD572B3-27A1-457C-BDCD-8E6E67FF5B86}"/>
              </a:ext>
            </a:extLst>
          </p:cNvPr>
          <p:cNvPicPr>
            <a:picLocks noChangeAspect="1"/>
          </p:cNvPicPr>
          <p:nvPr/>
        </p:nvPicPr>
        <p:blipFill>
          <a:blip r:embed="rId4"/>
          <a:stretch>
            <a:fillRect/>
          </a:stretch>
        </p:blipFill>
        <p:spPr>
          <a:xfrm>
            <a:off x="6163056" y="1744177"/>
            <a:ext cx="5943600" cy="34014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5</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Clinician Availability </a:t>
            </a:r>
            <a:endParaRPr lang="en-US" sz="2200" dirty="0"/>
          </a:p>
        </p:txBody>
      </p:sp>
      <p:sp>
        <p:nvSpPr>
          <p:cNvPr id="9" name="Text 7"/>
          <p:cNvSpPr txBox="1"/>
          <p:nvPr/>
        </p:nvSpPr>
        <p:spPr>
          <a:xfrm>
            <a:off x="5508212" y="1016905"/>
            <a:ext cx="3828735" cy="292608"/>
          </a:xfrm>
          <a:prstGeom prst="rect">
            <a:avLst/>
          </a:prstGeom>
          <a:noFill/>
          <a:ln/>
        </p:spPr>
        <p:txBody>
          <a:bodyPr wrap="square" rtlCol="0" anchor="t"/>
          <a:lstStyle/>
          <a:p>
            <a:pPr marL="0" indent="0" algn="l">
              <a:buNone/>
            </a:pPr>
            <a:r>
              <a:rPr lang="en-US" sz="1600" b="1" i="1" dirty="0">
                <a:solidFill>
                  <a:srgbClr val="F3D9DE"/>
                </a:solidFill>
                <a:latin typeface="Calibri" pitchFamily="34" charset="0"/>
                <a:ea typeface="Calibri" pitchFamily="34" charset="-122"/>
                <a:cs typeface="Calibri" pitchFamily="34" charset="-120"/>
              </a:rPr>
              <a:t>Clinician availability confirmed</a:t>
            </a:r>
            <a:endParaRPr lang="en-US" sz="1600" b="1" dirty="0"/>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endParaRPr lang="en-US" sz="110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clinician availability</a:t>
            </a:r>
            <a:endParaRPr lang="en-US" sz="1150" dirty="0"/>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10:00 AM slot selected</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FF74240D-B232-4E0D-9C2E-6A1AD97C9530}"/>
              </a:ext>
            </a:extLst>
          </p:cNvPr>
          <p:cNvPicPr>
            <a:picLocks noChangeAspect="1"/>
          </p:cNvPicPr>
          <p:nvPr/>
        </p:nvPicPr>
        <p:blipFill>
          <a:blip r:embed="rId3"/>
          <a:stretch>
            <a:fillRect/>
          </a:stretch>
        </p:blipFill>
        <p:spPr>
          <a:xfrm>
            <a:off x="457200" y="1534061"/>
            <a:ext cx="11210488" cy="37237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5</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Appointment Created and Confirmed</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Appointment confirmed and scheduling message sent</a:t>
            </a:r>
            <a:endParaRPr lang="en-US" sz="1150" dirty="0"/>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Amarachi’s appointment set up confirmed</a:t>
            </a:r>
            <a:endParaRPr lang="en-US" sz="1150" dirty="0"/>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Message sent to patient and general </a:t>
            </a:r>
            <a:r>
              <a:rPr lang="en-US" sz="1150" i="1" dirty="0" err="1">
                <a:solidFill>
                  <a:srgbClr val="5A6B72"/>
                </a:solidFill>
                <a:latin typeface="Calibri" pitchFamily="34" charset="0"/>
                <a:ea typeface="Calibri" pitchFamily="34" charset="-122"/>
                <a:cs typeface="Calibri" pitchFamily="34" charset="-120"/>
              </a:rPr>
              <a:t>calender</a:t>
            </a:r>
            <a:r>
              <a:rPr lang="en-US" sz="1150" i="1" dirty="0">
                <a:solidFill>
                  <a:srgbClr val="5A6B72"/>
                </a:solidFill>
                <a:latin typeface="Calibri" pitchFamily="34" charset="0"/>
                <a:ea typeface="Calibri" pitchFamily="34" charset="-122"/>
                <a:cs typeface="Calibri" pitchFamily="34" charset="-120"/>
              </a:rPr>
              <a:t> overview</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5F934FE3-5EBD-4B9E-A041-B7A7408EBFB4}"/>
              </a:ext>
            </a:extLst>
          </p:cNvPr>
          <p:cNvPicPr>
            <a:picLocks noChangeAspect="1"/>
          </p:cNvPicPr>
          <p:nvPr/>
        </p:nvPicPr>
        <p:blipFill>
          <a:blip r:embed="rId3"/>
          <a:stretch>
            <a:fillRect/>
          </a:stretch>
        </p:blipFill>
        <p:spPr>
          <a:xfrm>
            <a:off x="457200" y="1589063"/>
            <a:ext cx="5660136" cy="3679873"/>
          </a:xfrm>
          <a:prstGeom prst="rect">
            <a:avLst/>
          </a:prstGeom>
        </p:spPr>
      </p:pic>
      <p:pic>
        <p:nvPicPr>
          <p:cNvPr id="32" name="Picture 31">
            <a:extLst>
              <a:ext uri="{FF2B5EF4-FFF2-40B4-BE49-F238E27FC236}">
                <a16:creationId xmlns:a16="http://schemas.microsoft.com/office/drawing/2014/main" id="{A42A8645-3F2D-488C-9F37-DBEE7EE46CC7}"/>
              </a:ext>
            </a:extLst>
          </p:cNvPr>
          <p:cNvPicPr>
            <a:picLocks noChangeAspect="1"/>
          </p:cNvPicPr>
          <p:nvPr/>
        </p:nvPicPr>
        <p:blipFill>
          <a:blip r:embed="rId4"/>
          <a:stretch>
            <a:fillRect/>
          </a:stretch>
        </p:blipFill>
        <p:spPr>
          <a:xfrm>
            <a:off x="6117336" y="1618488"/>
            <a:ext cx="5509805" cy="36798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6</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Confirmation &amp; Portal Forms Sent</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Confirmation sent; intake and consent forms delivered before appointment day</a:t>
            </a:r>
            <a:endParaRPr lang="en-US" sz="1150" dirty="0"/>
          </a:p>
        </p:txBody>
      </p:sp>
      <p:sp>
        <p:nvSpPr>
          <p:cNvPr id="10" name="Shape 8"/>
          <p:cNvSpPr/>
          <p:nvPr/>
        </p:nvSpPr>
        <p:spPr>
          <a:xfrm>
            <a:off x="457200"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621792" y="1828800"/>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21792"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6A</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Confirmation message sent</a:t>
            </a:r>
            <a:endParaRPr lang="en-US" sz="1150" dirty="0"/>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Email Received by Amarachi</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D146A142-19CD-4F68-9EF3-A31743CC5C54}"/>
              </a:ext>
            </a:extLst>
          </p:cNvPr>
          <p:cNvPicPr>
            <a:picLocks noChangeAspect="1"/>
          </p:cNvPicPr>
          <p:nvPr/>
        </p:nvPicPr>
        <p:blipFill>
          <a:blip r:embed="rId3"/>
          <a:stretch>
            <a:fillRect/>
          </a:stretch>
        </p:blipFill>
        <p:spPr>
          <a:xfrm>
            <a:off x="457200" y="1618489"/>
            <a:ext cx="5464455" cy="3639311"/>
          </a:xfrm>
          <a:prstGeom prst="rect">
            <a:avLst/>
          </a:prstGeom>
        </p:spPr>
      </p:pic>
      <p:pic>
        <p:nvPicPr>
          <p:cNvPr id="32" name="Picture 31">
            <a:extLst>
              <a:ext uri="{FF2B5EF4-FFF2-40B4-BE49-F238E27FC236}">
                <a16:creationId xmlns:a16="http://schemas.microsoft.com/office/drawing/2014/main" id="{98A90152-863E-480C-9B6D-A0AD52FB7091}"/>
              </a:ext>
            </a:extLst>
          </p:cNvPr>
          <p:cNvPicPr>
            <a:picLocks noChangeAspect="1"/>
          </p:cNvPicPr>
          <p:nvPr/>
        </p:nvPicPr>
        <p:blipFill>
          <a:blip r:embed="rId4"/>
          <a:stretch>
            <a:fillRect/>
          </a:stretch>
        </p:blipFill>
        <p:spPr>
          <a:xfrm>
            <a:off x="5758296" y="1563624"/>
            <a:ext cx="6120515" cy="36941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6</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Document Sent To Patient's Portal</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Intake and consent forms sent before appointment day</a:t>
            </a:r>
            <a:endParaRPr lang="en-US" sz="1150" dirty="0"/>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intake form sent</a:t>
            </a:r>
            <a:endParaRPr lang="en-US" sz="1150" dirty="0"/>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e.g., consent form sent</a:t>
            </a: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E5441913-C74C-4F7B-8EAC-48DDE900F2B5}"/>
              </a:ext>
            </a:extLst>
          </p:cNvPr>
          <p:cNvPicPr>
            <a:picLocks noChangeAspect="1"/>
          </p:cNvPicPr>
          <p:nvPr/>
        </p:nvPicPr>
        <p:blipFill>
          <a:blip r:embed="rId3"/>
          <a:stretch>
            <a:fillRect/>
          </a:stretch>
        </p:blipFill>
        <p:spPr>
          <a:xfrm>
            <a:off x="457200" y="1854998"/>
            <a:ext cx="11274552" cy="32199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6</a:t>
            </a:r>
            <a:endParaRPr lang="en-US" sz="1600" dirty="0"/>
          </a:p>
        </p:txBody>
      </p:sp>
      <p:sp>
        <p:nvSpPr>
          <p:cNvPr id="8" name="Text 6"/>
          <p:cNvSpPr txBox="1"/>
          <p:nvPr/>
        </p:nvSpPr>
        <p:spPr>
          <a:xfrm>
            <a:off x="1389888" y="661331"/>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rPr>
              <a:t>Message Sent by the Client</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cs typeface="Calibri" pitchFamily="34" charset="-120"/>
              </a:rPr>
              <a:t>Scheduling Question from Client</a:t>
            </a:r>
            <a:endParaRPr lang="en-US" sz="1150" dirty="0"/>
          </a:p>
        </p:txBody>
      </p:sp>
      <p:sp>
        <p:nvSpPr>
          <p:cNvPr id="10" name="Shape 8"/>
          <p:cNvSpPr/>
          <p:nvPr/>
        </p:nvSpPr>
        <p:spPr>
          <a:xfrm>
            <a:off x="457200"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621792" y="1828800"/>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21792"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6E</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621792" y="5257800"/>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Client Inquiry through the portal.</a:t>
            </a:r>
            <a:endParaRPr lang="en-US" sz="1150" dirty="0"/>
          </a:p>
        </p:txBody>
      </p:sp>
      <p:sp>
        <p:nvSpPr>
          <p:cNvPr id="19" name="Shape 17"/>
          <p:cNvSpPr/>
          <p:nvPr/>
        </p:nvSpPr>
        <p:spPr>
          <a:xfrm>
            <a:off x="6254496"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4" name="Shape 22"/>
          <p:cNvSpPr/>
          <p:nvPr/>
        </p:nvSpPr>
        <p:spPr>
          <a:xfrm>
            <a:off x="6419088" y="1828800"/>
            <a:ext cx="2377440" cy="310896"/>
          </a:xfrm>
          <a:prstGeom prst="roundRect">
            <a:avLst>
              <a:gd name="adj" fmla="val 50000"/>
            </a:avLst>
          </a:prstGeom>
          <a:solidFill>
            <a:srgbClr val="0B3D4C"/>
          </a:solidFill>
          <a:ln/>
        </p:spPr>
        <p:txBody>
          <a:bodyPr/>
          <a:lstStyle/>
          <a:p>
            <a:endParaRPr lang="en-US"/>
          </a:p>
        </p:txBody>
      </p:sp>
      <p:sp>
        <p:nvSpPr>
          <p:cNvPr id="25" name="Text 23"/>
          <p:cNvSpPr txBox="1"/>
          <p:nvPr/>
        </p:nvSpPr>
        <p:spPr>
          <a:xfrm>
            <a:off x="6419088"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6F</a:t>
            </a:r>
            <a:endParaRPr lang="en-US" sz="105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7" name="Text 25"/>
          <p:cNvSpPr txBox="1"/>
          <p:nvPr/>
        </p:nvSpPr>
        <p:spPr>
          <a:xfrm>
            <a:off x="6419088" y="5257800"/>
            <a:ext cx="5148072" cy="1005840"/>
          </a:xfrm>
          <a:prstGeom prst="rect">
            <a:avLst/>
          </a:prstGeom>
          <a:noFill/>
          <a:ln/>
        </p:spPr>
        <p:txBody>
          <a:bodyPr wrap="square" rtlCol="0" anchor="ctr"/>
          <a:lstStyle/>
          <a:p>
            <a:pPr marL="0" indent="0" algn="l">
              <a:buNone/>
            </a:pPr>
            <a:endParaRPr lang="en-US" sz="1150" dirty="0"/>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65B16C2B-F20A-44A4-85A6-13A3858AA56F}"/>
              </a:ext>
            </a:extLst>
          </p:cNvPr>
          <p:cNvPicPr>
            <a:picLocks noChangeAspect="1"/>
          </p:cNvPicPr>
          <p:nvPr/>
        </p:nvPicPr>
        <p:blipFill>
          <a:blip r:embed="rId3"/>
          <a:stretch>
            <a:fillRect/>
          </a:stretch>
        </p:blipFill>
        <p:spPr>
          <a:xfrm>
            <a:off x="457200" y="1691640"/>
            <a:ext cx="11274552" cy="3474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6</a:t>
            </a:r>
            <a:endParaRPr lang="en-US" sz="1600" dirty="0"/>
          </a:p>
        </p:txBody>
      </p:sp>
      <p:sp>
        <p:nvSpPr>
          <p:cNvPr id="8" name="Text 6"/>
          <p:cNvSpPr txBox="1"/>
          <p:nvPr/>
        </p:nvSpPr>
        <p:spPr>
          <a:xfrm>
            <a:off x="1280160" y="658368"/>
            <a:ext cx="10177272" cy="402336"/>
          </a:xfrm>
          <a:prstGeom prst="rect">
            <a:avLst/>
          </a:prstGeom>
          <a:noFill/>
          <a:ln/>
        </p:spPr>
        <p:txBody>
          <a:bodyPr wrap="square" rtlCol="0" anchor="b"/>
          <a:lstStyle/>
          <a:p>
            <a:pPr marL="0" indent="0" algn="l">
              <a:buNone/>
            </a:pPr>
            <a:r>
              <a:rPr lang="en-US" sz="2200" b="1" dirty="0">
                <a:solidFill>
                  <a:srgbClr val="FFFFFF"/>
                </a:solidFill>
                <a:latin typeface="Cambria" pitchFamily="34" charset="0"/>
                <a:ea typeface="Cambria" pitchFamily="34" charset="-122"/>
                <a:cs typeface="Cambria" pitchFamily="34" charset="-120"/>
              </a:rPr>
              <a:t>New Message Created to Reply Client</a:t>
            </a:r>
            <a:endParaRPr lang="en-US" sz="2200" dirty="0"/>
          </a:p>
        </p:txBody>
      </p:sp>
      <p:sp>
        <p:nvSpPr>
          <p:cNvPr id="9" name="Text 7"/>
          <p:cNvSpPr txBox="1"/>
          <p:nvPr/>
        </p:nvSpPr>
        <p:spPr>
          <a:xfrm>
            <a:off x="1280160" y="1042416"/>
            <a:ext cx="10177272" cy="292608"/>
          </a:xfrm>
          <a:prstGeom prst="rect">
            <a:avLst/>
          </a:prstGeom>
          <a:noFill/>
          <a:ln/>
        </p:spPr>
        <p:txBody>
          <a:bodyPr wrap="square" rtlCol="0" anchor="t"/>
          <a:lstStyle/>
          <a:p>
            <a:pPr marL="0" indent="0" algn="l">
              <a:buNone/>
            </a:pPr>
            <a:r>
              <a:rPr lang="en-US" sz="1150" i="1" dirty="0">
                <a:solidFill>
                  <a:srgbClr val="F3D9DE"/>
                </a:solidFill>
                <a:latin typeface="Calibri" pitchFamily="34" charset="0"/>
                <a:ea typeface="Calibri" pitchFamily="34" charset="-122"/>
                <a:cs typeface="Calibri" pitchFamily="34" charset="-120"/>
              </a:rPr>
              <a:t>Final pre-appointment checklist</a:t>
            </a:r>
            <a:endParaRPr lang="en-US" sz="1150" dirty="0"/>
          </a:p>
        </p:txBody>
      </p:sp>
      <p:sp>
        <p:nvSpPr>
          <p:cNvPr id="10" name="Shape 8"/>
          <p:cNvSpPr/>
          <p:nvPr/>
        </p:nvSpPr>
        <p:spPr>
          <a:xfrm>
            <a:off x="457200"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11" name="Shape 9"/>
          <p:cNvSpPr/>
          <p:nvPr/>
        </p:nvSpPr>
        <p:spPr>
          <a:xfrm>
            <a:off x="2601468" y="2723083"/>
            <a:ext cx="1188720" cy="808330"/>
          </a:xfrm>
          <a:prstGeom prst="roundRect">
            <a:avLst>
              <a:gd name="adj" fmla="val 6787"/>
            </a:avLst>
          </a:prstGeom>
          <a:solidFill>
            <a:srgbClr val="6FC3D2"/>
          </a:solidFill>
          <a:ln/>
        </p:spPr>
        <p:txBody>
          <a:bodyPr/>
          <a:lstStyle/>
          <a:p>
            <a:endParaRPr lang="en-US"/>
          </a:p>
        </p:txBody>
      </p:sp>
      <p:sp>
        <p:nvSpPr>
          <p:cNvPr id="12" name="Shape 10"/>
          <p:cNvSpPr/>
          <p:nvPr/>
        </p:nvSpPr>
        <p:spPr>
          <a:xfrm>
            <a:off x="2934310" y="2545251"/>
            <a:ext cx="523037" cy="210166"/>
          </a:xfrm>
          <a:prstGeom prst="roundRect">
            <a:avLst>
              <a:gd name="adj" fmla="val 13053"/>
            </a:avLst>
          </a:prstGeom>
          <a:solidFill>
            <a:srgbClr val="6FC3D2"/>
          </a:solidFill>
          <a:ln/>
        </p:spPr>
        <p:txBody>
          <a:bodyPr/>
          <a:lstStyle/>
          <a:p>
            <a:endParaRPr lang="en-US"/>
          </a:p>
        </p:txBody>
      </p:sp>
      <p:sp>
        <p:nvSpPr>
          <p:cNvPr id="13" name="Shape 11"/>
          <p:cNvSpPr/>
          <p:nvPr/>
        </p:nvSpPr>
        <p:spPr>
          <a:xfrm>
            <a:off x="2985662"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14" name="Text 12"/>
          <p:cNvSpPr txBox="1"/>
          <p:nvPr/>
        </p:nvSpPr>
        <p:spPr>
          <a:xfrm>
            <a:off x="640080"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15" name="Shape 13"/>
          <p:cNvSpPr/>
          <p:nvPr/>
        </p:nvSpPr>
        <p:spPr>
          <a:xfrm>
            <a:off x="621792" y="1828800"/>
            <a:ext cx="2377440" cy="310896"/>
          </a:xfrm>
          <a:prstGeom prst="roundRect">
            <a:avLst>
              <a:gd name="adj" fmla="val 50000"/>
            </a:avLst>
          </a:prstGeom>
          <a:solidFill>
            <a:srgbClr val="0B3D4C"/>
          </a:solidFill>
          <a:ln/>
        </p:spPr>
        <p:txBody>
          <a:bodyPr/>
          <a:lstStyle/>
          <a:p>
            <a:endParaRPr lang="en-US"/>
          </a:p>
        </p:txBody>
      </p:sp>
      <p:sp>
        <p:nvSpPr>
          <p:cNvPr id="16" name="Text 14"/>
          <p:cNvSpPr txBox="1"/>
          <p:nvPr/>
        </p:nvSpPr>
        <p:spPr>
          <a:xfrm>
            <a:off x="621792"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6G</a:t>
            </a:r>
            <a:endParaRPr lang="en-US" sz="1050" dirty="0"/>
          </a:p>
        </p:txBody>
      </p:sp>
      <p:sp>
        <p:nvSpPr>
          <p:cNvPr id="17" name="Shape 15"/>
          <p:cNvSpPr/>
          <p:nvPr/>
        </p:nvSpPr>
        <p:spPr>
          <a:xfrm>
            <a:off x="457200"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18" name="Text 16"/>
          <p:cNvSpPr txBox="1"/>
          <p:nvPr/>
        </p:nvSpPr>
        <p:spPr>
          <a:xfrm>
            <a:off x="786384" y="5451653"/>
            <a:ext cx="5148072" cy="1005840"/>
          </a:xfrm>
          <a:prstGeom prst="rect">
            <a:avLst/>
          </a:prstGeom>
          <a:noFill/>
          <a:ln/>
        </p:spPr>
        <p:txBody>
          <a:bodyPr wrap="square" rtlCol="0" anchor="ctr"/>
          <a:lstStyle/>
          <a:p>
            <a:pPr marL="0" indent="0" algn="l">
              <a:buNone/>
            </a:pPr>
            <a:r>
              <a:rPr lang="en-US" sz="1150" i="1" dirty="0">
                <a:solidFill>
                  <a:srgbClr val="5A6B72"/>
                </a:solidFill>
                <a:latin typeface="Calibri" pitchFamily="34" charset="0"/>
                <a:ea typeface="Calibri" pitchFamily="34" charset="-122"/>
                <a:cs typeface="Calibri" pitchFamily="34" charset="-120"/>
              </a:rPr>
              <a:t>.</a:t>
            </a:r>
            <a:endParaRPr lang="en-US" sz="1150" dirty="0"/>
          </a:p>
        </p:txBody>
      </p:sp>
      <p:sp>
        <p:nvSpPr>
          <p:cNvPr id="19" name="Shape 17"/>
          <p:cNvSpPr/>
          <p:nvPr/>
        </p:nvSpPr>
        <p:spPr>
          <a:xfrm>
            <a:off x="6254496" y="1691640"/>
            <a:ext cx="5477256" cy="3383280"/>
          </a:xfrm>
          <a:prstGeom prst="roundRect">
            <a:avLst>
              <a:gd name="adj" fmla="val 1892"/>
            </a:avLst>
          </a:prstGeom>
          <a:solidFill>
            <a:srgbClr val="F7FBFC"/>
          </a:solidFill>
          <a:ln w="19050">
            <a:solidFill>
              <a:srgbClr val="6FC3D2"/>
            </a:solidFill>
            <a:prstDash val="dash"/>
          </a:ln>
        </p:spPr>
        <p:txBody>
          <a:bodyPr/>
          <a:lstStyle/>
          <a:p>
            <a:endParaRPr lang="en-US"/>
          </a:p>
        </p:txBody>
      </p:sp>
      <p:sp>
        <p:nvSpPr>
          <p:cNvPr id="20" name="Shape 18"/>
          <p:cNvSpPr/>
          <p:nvPr/>
        </p:nvSpPr>
        <p:spPr>
          <a:xfrm>
            <a:off x="8398764" y="2723083"/>
            <a:ext cx="1188720" cy="808330"/>
          </a:xfrm>
          <a:prstGeom prst="roundRect">
            <a:avLst>
              <a:gd name="adj" fmla="val 6787"/>
            </a:avLst>
          </a:prstGeom>
          <a:solidFill>
            <a:srgbClr val="6FC3D2"/>
          </a:solidFill>
          <a:ln/>
        </p:spPr>
        <p:txBody>
          <a:bodyPr/>
          <a:lstStyle/>
          <a:p>
            <a:endParaRPr lang="en-US"/>
          </a:p>
        </p:txBody>
      </p:sp>
      <p:sp>
        <p:nvSpPr>
          <p:cNvPr id="21" name="Shape 19"/>
          <p:cNvSpPr/>
          <p:nvPr/>
        </p:nvSpPr>
        <p:spPr>
          <a:xfrm>
            <a:off x="8731606" y="2545251"/>
            <a:ext cx="523037" cy="210166"/>
          </a:xfrm>
          <a:prstGeom prst="roundRect">
            <a:avLst>
              <a:gd name="adj" fmla="val 13053"/>
            </a:avLst>
          </a:prstGeom>
          <a:solidFill>
            <a:srgbClr val="6FC3D2"/>
          </a:solidFill>
          <a:ln/>
        </p:spPr>
        <p:txBody>
          <a:bodyPr/>
          <a:lstStyle/>
          <a:p>
            <a:endParaRPr lang="en-US"/>
          </a:p>
        </p:txBody>
      </p:sp>
      <p:sp>
        <p:nvSpPr>
          <p:cNvPr id="22" name="Shape 20"/>
          <p:cNvSpPr/>
          <p:nvPr/>
        </p:nvSpPr>
        <p:spPr>
          <a:xfrm>
            <a:off x="8782958" y="3078748"/>
            <a:ext cx="420331" cy="420331"/>
          </a:xfrm>
          <a:prstGeom prst="ellipse">
            <a:avLst/>
          </a:prstGeom>
          <a:solidFill>
            <a:srgbClr val="F7FBFC"/>
          </a:solidFill>
          <a:ln w="25400">
            <a:solidFill>
              <a:srgbClr val="FFFFFF"/>
            </a:solidFill>
            <a:prstDash val="solid"/>
          </a:ln>
        </p:spPr>
        <p:txBody>
          <a:bodyPr/>
          <a:lstStyle/>
          <a:p>
            <a:endParaRPr lang="en-US"/>
          </a:p>
        </p:txBody>
      </p:sp>
      <p:sp>
        <p:nvSpPr>
          <p:cNvPr id="23" name="Text 21"/>
          <p:cNvSpPr txBox="1"/>
          <p:nvPr/>
        </p:nvSpPr>
        <p:spPr>
          <a:xfrm>
            <a:off x="6437376" y="4617720"/>
            <a:ext cx="5111496" cy="274320"/>
          </a:xfrm>
          <a:prstGeom prst="rect">
            <a:avLst/>
          </a:prstGeom>
          <a:noFill/>
          <a:ln/>
        </p:spPr>
        <p:txBody>
          <a:bodyPr wrap="square" rtlCol="0" anchor="ctr"/>
          <a:lstStyle/>
          <a:p>
            <a:pPr marL="0" indent="0" algn="ctr">
              <a:buNone/>
            </a:pPr>
            <a:r>
              <a:rPr lang="en-US" sz="1100" b="1" kern="0" spc="100" dirty="0">
                <a:solidFill>
                  <a:srgbClr val="12889E"/>
                </a:solidFill>
                <a:latin typeface="Calibri" pitchFamily="34" charset="0"/>
                <a:ea typeface="Calibri" pitchFamily="34" charset="-122"/>
                <a:cs typeface="Calibri" pitchFamily="34" charset="-120"/>
              </a:rPr>
              <a:t>INSERT SCREENSHOT HERE</a:t>
            </a:r>
            <a:endParaRPr lang="en-US" sz="1100" dirty="0"/>
          </a:p>
        </p:txBody>
      </p:sp>
      <p:sp>
        <p:nvSpPr>
          <p:cNvPr id="24" name="Shape 22"/>
          <p:cNvSpPr/>
          <p:nvPr/>
        </p:nvSpPr>
        <p:spPr>
          <a:xfrm>
            <a:off x="6419088" y="1828800"/>
            <a:ext cx="2377440" cy="310896"/>
          </a:xfrm>
          <a:prstGeom prst="roundRect">
            <a:avLst>
              <a:gd name="adj" fmla="val 50000"/>
            </a:avLst>
          </a:prstGeom>
          <a:solidFill>
            <a:srgbClr val="0B3D4C"/>
          </a:solidFill>
          <a:ln/>
        </p:spPr>
        <p:txBody>
          <a:bodyPr/>
          <a:lstStyle/>
          <a:p>
            <a:endParaRPr lang="en-US"/>
          </a:p>
        </p:txBody>
      </p:sp>
      <p:sp>
        <p:nvSpPr>
          <p:cNvPr id="25" name="Text 23"/>
          <p:cNvSpPr txBox="1"/>
          <p:nvPr/>
        </p:nvSpPr>
        <p:spPr>
          <a:xfrm>
            <a:off x="6419088" y="1828800"/>
            <a:ext cx="2377440" cy="310896"/>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STEP 6H</a:t>
            </a:r>
            <a:endParaRPr lang="en-US" sz="1050" dirty="0"/>
          </a:p>
        </p:txBody>
      </p:sp>
      <p:sp>
        <p:nvSpPr>
          <p:cNvPr id="26" name="Shape 24"/>
          <p:cNvSpPr/>
          <p:nvPr/>
        </p:nvSpPr>
        <p:spPr>
          <a:xfrm>
            <a:off x="6254496" y="5257800"/>
            <a:ext cx="5477256" cy="1005840"/>
          </a:xfrm>
          <a:prstGeom prst="roundRect">
            <a:avLst>
              <a:gd name="adj" fmla="val 4545"/>
            </a:avLst>
          </a:prstGeom>
          <a:solidFill>
            <a:srgbClr val="F4FAFB"/>
          </a:solidFill>
          <a:ln w="12700">
            <a:solidFill>
              <a:srgbClr val="D6ECEF"/>
            </a:solidFill>
            <a:prstDash val="solid"/>
          </a:ln>
        </p:spPr>
        <p:txBody>
          <a:bodyPr/>
          <a:lstStyle/>
          <a:p>
            <a:endParaRPr lang="en-US"/>
          </a:p>
        </p:txBody>
      </p:sp>
      <p:sp>
        <p:nvSpPr>
          <p:cNvPr id="28" name="Text 26"/>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pic>
        <p:nvPicPr>
          <p:cNvPr id="30" name="Picture 29">
            <a:extLst>
              <a:ext uri="{FF2B5EF4-FFF2-40B4-BE49-F238E27FC236}">
                <a16:creationId xmlns:a16="http://schemas.microsoft.com/office/drawing/2014/main" id="{18DBE2F5-EFEA-4E89-BF3C-2169ABB9333E}"/>
              </a:ext>
            </a:extLst>
          </p:cNvPr>
          <p:cNvPicPr>
            <a:picLocks noChangeAspect="1"/>
          </p:cNvPicPr>
          <p:nvPr/>
        </p:nvPicPr>
        <p:blipFill>
          <a:blip r:embed="rId3"/>
          <a:stretch>
            <a:fillRect/>
          </a:stretch>
        </p:blipFill>
        <p:spPr>
          <a:xfrm>
            <a:off x="457200" y="1444753"/>
            <a:ext cx="11274552" cy="3813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28016"/>
            <a:ext cx="7315200" cy="256032"/>
          </a:xfrm>
          <a:prstGeom prst="rect">
            <a:avLst/>
          </a:prstGeom>
          <a:noFill/>
          <a:ln/>
        </p:spPr>
        <p:txBody>
          <a:bodyPr wrap="square" rtlCol="0" anchor="ctr"/>
          <a:lstStyle/>
          <a:p>
            <a:pPr marL="0" indent="0">
              <a:buNone/>
            </a:pPr>
            <a:r>
              <a:rPr lang="en-US" sz="1000" b="1" kern="0" spc="100" dirty="0">
                <a:solidFill>
                  <a:srgbClr val="0B3D4C"/>
                </a:solidFill>
                <a:latin typeface="Calibri" pitchFamily="34" charset="0"/>
                <a:ea typeface="Calibri" pitchFamily="34" charset="-122"/>
                <a:cs typeface="Calibri" pitchFamily="34" charset="-120"/>
              </a:rPr>
              <a:t>Blossom WOMEN'S HEALTH &amp; WELLNESS CLINIC</a:t>
            </a:r>
            <a:endParaRPr lang="en-US" sz="1000" dirty="0"/>
          </a:p>
        </p:txBody>
      </p:sp>
      <p:sp>
        <p:nvSpPr>
          <p:cNvPr id="3" name="Text 1"/>
          <p:cNvSpPr txBox="1"/>
          <p:nvPr/>
        </p:nvSpPr>
        <p:spPr>
          <a:xfrm>
            <a:off x="5788152" y="128016"/>
            <a:ext cx="5943600" cy="256032"/>
          </a:xfrm>
          <a:prstGeom prst="rect">
            <a:avLst/>
          </a:prstGeom>
          <a:noFill/>
          <a:ln/>
        </p:spPr>
        <p:txBody>
          <a:bodyPr wrap="square" rtlCol="0" anchor="ctr"/>
          <a:lstStyle/>
          <a:p>
            <a:pPr marL="0" indent="0" algn="r">
              <a:buNone/>
            </a:pPr>
            <a:r>
              <a:rPr lang="en-US" sz="1000" b="1" kern="0" spc="50" dirty="0">
                <a:solidFill>
                  <a:srgbClr val="12889E"/>
                </a:solidFill>
                <a:latin typeface="Calibri" pitchFamily="34" charset="0"/>
                <a:ea typeface="Calibri" pitchFamily="34" charset="-122"/>
                <a:cs typeface="Calibri" pitchFamily="34" charset="-120"/>
              </a:rPr>
              <a:t>PATIENT ONBOARDING &amp; SCHEDULING WORKFLOW</a:t>
            </a:r>
            <a:endParaRPr lang="en-US" sz="1000" dirty="0"/>
          </a:p>
        </p:txBody>
      </p:sp>
      <p:sp>
        <p:nvSpPr>
          <p:cNvPr id="4" name="Shape 2"/>
          <p:cNvSpPr/>
          <p:nvPr/>
        </p:nvSpPr>
        <p:spPr>
          <a:xfrm>
            <a:off x="457200" y="420624"/>
            <a:ext cx="11274552" cy="0"/>
          </a:xfrm>
          <a:prstGeom prst="line">
            <a:avLst/>
          </a:prstGeom>
          <a:noFill/>
          <a:ln w="12700">
            <a:solidFill>
              <a:srgbClr val="12889E"/>
            </a:solidFill>
            <a:prstDash val="solid"/>
          </a:ln>
        </p:spPr>
        <p:txBody>
          <a:bodyPr/>
          <a:lstStyle/>
          <a:p>
            <a:endParaRPr lang="en-US"/>
          </a:p>
        </p:txBody>
      </p:sp>
      <p:sp>
        <p:nvSpPr>
          <p:cNvPr id="5" name="Shape 3"/>
          <p:cNvSpPr/>
          <p:nvPr/>
        </p:nvSpPr>
        <p:spPr>
          <a:xfrm>
            <a:off x="457200" y="603504"/>
            <a:ext cx="11274552" cy="786384"/>
          </a:xfrm>
          <a:prstGeom prst="roundRect">
            <a:avLst>
              <a:gd name="adj" fmla="val 9302"/>
            </a:avLst>
          </a:prstGeom>
          <a:solidFill>
            <a:srgbClr val="0B3D4C"/>
          </a:solidFill>
          <a:ln/>
        </p:spPr>
        <p:txBody>
          <a:bodyPr/>
          <a:lstStyle/>
          <a:p>
            <a:endParaRPr lang="en-US"/>
          </a:p>
        </p:txBody>
      </p:sp>
      <p:sp>
        <p:nvSpPr>
          <p:cNvPr id="6" name="Shape 4"/>
          <p:cNvSpPr/>
          <p:nvPr/>
        </p:nvSpPr>
        <p:spPr>
          <a:xfrm>
            <a:off x="685800" y="795528"/>
            <a:ext cx="402336" cy="402336"/>
          </a:xfrm>
          <a:prstGeom prst="ellipse">
            <a:avLst/>
          </a:prstGeom>
          <a:solidFill>
            <a:srgbClr val="4FD1E0"/>
          </a:solidFill>
          <a:ln/>
        </p:spPr>
        <p:txBody>
          <a:bodyPr/>
          <a:lstStyle/>
          <a:p>
            <a:endParaRPr lang="en-US"/>
          </a:p>
        </p:txBody>
      </p:sp>
      <p:sp>
        <p:nvSpPr>
          <p:cNvPr id="7" name="Text 5"/>
          <p:cNvSpPr txBox="1"/>
          <p:nvPr/>
        </p:nvSpPr>
        <p:spPr>
          <a:xfrm>
            <a:off x="685800" y="795528"/>
            <a:ext cx="402336" cy="402336"/>
          </a:xfrm>
          <a:prstGeom prst="rect">
            <a:avLst/>
          </a:prstGeom>
          <a:noFill/>
          <a:ln/>
        </p:spPr>
        <p:txBody>
          <a:bodyPr wrap="square" rtlCol="0" anchor="ctr"/>
          <a:lstStyle/>
          <a:p>
            <a:pPr marL="0" indent="0" algn="ctr">
              <a:buNone/>
            </a:pPr>
            <a:r>
              <a:rPr lang="en-US" sz="1600" b="1" dirty="0">
                <a:solidFill>
                  <a:srgbClr val="0B3D4C"/>
                </a:solidFill>
                <a:latin typeface="Calibri" pitchFamily="34" charset="0"/>
                <a:ea typeface="Calibri" pitchFamily="34" charset="-122"/>
                <a:cs typeface="Calibri" pitchFamily="34" charset="-120"/>
              </a:rPr>
              <a:t>S</a:t>
            </a:r>
            <a:endParaRPr lang="en-US" sz="1600" dirty="0"/>
          </a:p>
        </p:txBody>
      </p:sp>
      <p:sp>
        <p:nvSpPr>
          <p:cNvPr id="8" name="Text 6"/>
          <p:cNvSpPr txBox="1"/>
          <p:nvPr/>
        </p:nvSpPr>
        <p:spPr>
          <a:xfrm>
            <a:off x="1280160" y="603504"/>
            <a:ext cx="10177272" cy="786384"/>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Workflow Summary</a:t>
            </a:r>
            <a:endParaRPr lang="en-US" sz="2200" dirty="0"/>
          </a:p>
        </p:txBody>
      </p:sp>
      <p:sp>
        <p:nvSpPr>
          <p:cNvPr id="9" name="Shape 7"/>
          <p:cNvSpPr/>
          <p:nvPr/>
        </p:nvSpPr>
        <p:spPr>
          <a:xfrm>
            <a:off x="457200" y="1691640"/>
            <a:ext cx="11274552" cy="914400"/>
          </a:xfrm>
          <a:prstGeom prst="roundRect">
            <a:avLst>
              <a:gd name="adj" fmla="val 8000"/>
            </a:avLst>
          </a:prstGeom>
          <a:solidFill>
            <a:srgbClr val="F4FAFB"/>
          </a:solidFill>
          <a:ln w="12700">
            <a:solidFill>
              <a:srgbClr val="D6ECEF"/>
            </a:solidFill>
            <a:prstDash val="solid"/>
          </a:ln>
        </p:spPr>
        <p:txBody>
          <a:bodyPr/>
          <a:lstStyle/>
          <a:p>
            <a:endParaRPr lang="en-US"/>
          </a:p>
        </p:txBody>
      </p:sp>
      <p:sp>
        <p:nvSpPr>
          <p:cNvPr id="10" name="Text 8"/>
          <p:cNvSpPr txBox="1"/>
          <p:nvPr/>
        </p:nvSpPr>
        <p:spPr>
          <a:xfrm>
            <a:off x="731520" y="1691640"/>
            <a:ext cx="10725912" cy="914400"/>
          </a:xfrm>
          <a:prstGeom prst="rect">
            <a:avLst/>
          </a:prstGeom>
          <a:noFill/>
          <a:ln/>
        </p:spPr>
        <p:txBody>
          <a:bodyPr wrap="square" rtlCol="0" anchor="ctr"/>
          <a:lstStyle/>
          <a:p>
            <a:pPr marL="0" indent="0">
              <a:lnSpc>
                <a:spcPct val="120000"/>
              </a:lnSpc>
              <a:buNone/>
            </a:pPr>
            <a:r>
              <a:rPr lang="en-US" sz="1350" i="1" dirty="0">
                <a:solidFill>
                  <a:srgbClr val="5A6B72"/>
                </a:solidFill>
                <a:latin typeface="Calibri" pitchFamily="34" charset="0"/>
                <a:ea typeface="Calibri" pitchFamily="34" charset="-122"/>
                <a:cs typeface="Calibri" pitchFamily="34" charset="-120"/>
              </a:rPr>
              <a:t>Below is Blossom Health Women’s and Health Clinic intake summary.</a:t>
            </a:r>
            <a:endParaRPr lang="en-US" sz="1350" dirty="0"/>
          </a:p>
        </p:txBody>
      </p:sp>
      <p:sp>
        <p:nvSpPr>
          <p:cNvPr id="11" name="Shape 9"/>
          <p:cNvSpPr/>
          <p:nvPr/>
        </p:nvSpPr>
        <p:spPr>
          <a:xfrm>
            <a:off x="548640" y="2880360"/>
            <a:ext cx="310896" cy="310896"/>
          </a:xfrm>
          <a:prstGeom prst="ellipse">
            <a:avLst/>
          </a:prstGeom>
          <a:solidFill>
            <a:srgbClr val="1E8F5F"/>
          </a:solidFill>
          <a:ln/>
        </p:spPr>
        <p:txBody>
          <a:bodyPr/>
          <a:lstStyle/>
          <a:p>
            <a:endParaRPr lang="en-US"/>
          </a:p>
        </p:txBody>
      </p:sp>
      <p:sp>
        <p:nvSpPr>
          <p:cNvPr id="12" name="Text 10"/>
          <p:cNvSpPr txBox="1"/>
          <p:nvPr/>
        </p:nvSpPr>
        <p:spPr>
          <a:xfrm>
            <a:off x="548640" y="2880360"/>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1005840" y="2834640"/>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Patient called to request an appointment</a:t>
            </a:r>
            <a:endParaRPr lang="en-US" sz="1350" dirty="0"/>
          </a:p>
        </p:txBody>
      </p:sp>
      <p:sp>
        <p:nvSpPr>
          <p:cNvPr id="14" name="Shape 12"/>
          <p:cNvSpPr/>
          <p:nvPr/>
        </p:nvSpPr>
        <p:spPr>
          <a:xfrm>
            <a:off x="548640" y="3410712"/>
            <a:ext cx="310896" cy="310896"/>
          </a:xfrm>
          <a:prstGeom prst="ellipse">
            <a:avLst/>
          </a:prstGeom>
          <a:solidFill>
            <a:srgbClr val="1E8F5F"/>
          </a:solidFill>
          <a:ln/>
        </p:spPr>
        <p:txBody>
          <a:bodyPr/>
          <a:lstStyle/>
          <a:p>
            <a:endParaRPr lang="en-US"/>
          </a:p>
        </p:txBody>
      </p:sp>
      <p:sp>
        <p:nvSpPr>
          <p:cNvPr id="15" name="Text 13"/>
          <p:cNvSpPr txBox="1"/>
          <p:nvPr/>
        </p:nvSpPr>
        <p:spPr>
          <a:xfrm>
            <a:off x="548640" y="3410712"/>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1005840" y="3364992"/>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Demographics captured; patient profile created</a:t>
            </a:r>
            <a:endParaRPr lang="en-US" sz="1350" dirty="0"/>
          </a:p>
        </p:txBody>
      </p:sp>
      <p:sp>
        <p:nvSpPr>
          <p:cNvPr id="17" name="Shape 15"/>
          <p:cNvSpPr/>
          <p:nvPr/>
        </p:nvSpPr>
        <p:spPr>
          <a:xfrm>
            <a:off x="548640" y="3941064"/>
            <a:ext cx="310896" cy="310896"/>
          </a:xfrm>
          <a:prstGeom prst="ellipse">
            <a:avLst/>
          </a:prstGeom>
          <a:solidFill>
            <a:srgbClr val="1E8F5F"/>
          </a:solidFill>
          <a:ln/>
        </p:spPr>
        <p:txBody>
          <a:bodyPr/>
          <a:lstStyle/>
          <a:p>
            <a:endParaRPr lang="en-US"/>
          </a:p>
        </p:txBody>
      </p:sp>
      <p:sp>
        <p:nvSpPr>
          <p:cNvPr id="18" name="Text 16"/>
          <p:cNvSpPr txBox="1"/>
          <p:nvPr/>
        </p:nvSpPr>
        <p:spPr>
          <a:xfrm>
            <a:off x="548640" y="3941064"/>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005840" y="3895344"/>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Intake form and welcome message sent</a:t>
            </a:r>
            <a:endParaRPr lang="en-US" sz="1350" dirty="0"/>
          </a:p>
        </p:txBody>
      </p:sp>
      <p:sp>
        <p:nvSpPr>
          <p:cNvPr id="20" name="Shape 18"/>
          <p:cNvSpPr/>
          <p:nvPr/>
        </p:nvSpPr>
        <p:spPr>
          <a:xfrm>
            <a:off x="548640" y="4471416"/>
            <a:ext cx="310896" cy="310896"/>
          </a:xfrm>
          <a:prstGeom prst="ellipse">
            <a:avLst/>
          </a:prstGeom>
          <a:solidFill>
            <a:srgbClr val="1E8F5F"/>
          </a:solidFill>
          <a:ln/>
        </p:spPr>
        <p:txBody>
          <a:bodyPr/>
          <a:lstStyle/>
          <a:p>
            <a:endParaRPr lang="en-US"/>
          </a:p>
        </p:txBody>
      </p:sp>
      <p:sp>
        <p:nvSpPr>
          <p:cNvPr id="21" name="Text 19"/>
          <p:cNvSpPr txBox="1"/>
          <p:nvPr/>
        </p:nvSpPr>
        <p:spPr>
          <a:xfrm>
            <a:off x="548640" y="4471416"/>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05840" y="4425696"/>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Patient set up portal access and viewed welcome message</a:t>
            </a:r>
            <a:endParaRPr lang="en-US" sz="1350" dirty="0"/>
          </a:p>
        </p:txBody>
      </p:sp>
      <p:sp>
        <p:nvSpPr>
          <p:cNvPr id="23" name="Shape 21"/>
          <p:cNvSpPr/>
          <p:nvPr/>
        </p:nvSpPr>
        <p:spPr>
          <a:xfrm>
            <a:off x="548640" y="5001768"/>
            <a:ext cx="310896" cy="310896"/>
          </a:xfrm>
          <a:prstGeom prst="ellipse">
            <a:avLst/>
          </a:prstGeom>
          <a:solidFill>
            <a:srgbClr val="1E8F5F"/>
          </a:solidFill>
          <a:ln/>
        </p:spPr>
        <p:txBody>
          <a:bodyPr/>
          <a:lstStyle/>
          <a:p>
            <a:endParaRPr lang="en-US"/>
          </a:p>
        </p:txBody>
      </p:sp>
      <p:sp>
        <p:nvSpPr>
          <p:cNvPr id="24" name="Text 22"/>
          <p:cNvSpPr txBox="1"/>
          <p:nvPr/>
        </p:nvSpPr>
        <p:spPr>
          <a:xfrm>
            <a:off x="548640" y="5001768"/>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1005840" y="4956048"/>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Clinician availability checked; appointment booked for 10:00 AM</a:t>
            </a:r>
            <a:endParaRPr lang="en-US" sz="1350" dirty="0"/>
          </a:p>
        </p:txBody>
      </p:sp>
      <p:sp>
        <p:nvSpPr>
          <p:cNvPr id="26" name="Shape 24"/>
          <p:cNvSpPr/>
          <p:nvPr/>
        </p:nvSpPr>
        <p:spPr>
          <a:xfrm>
            <a:off x="548640" y="5532120"/>
            <a:ext cx="310896" cy="310896"/>
          </a:xfrm>
          <a:prstGeom prst="ellipse">
            <a:avLst/>
          </a:prstGeom>
          <a:solidFill>
            <a:srgbClr val="1E8F5F"/>
          </a:solidFill>
          <a:ln/>
        </p:spPr>
        <p:txBody>
          <a:bodyPr/>
          <a:lstStyle/>
          <a:p>
            <a:endParaRPr lang="en-US"/>
          </a:p>
        </p:txBody>
      </p:sp>
      <p:sp>
        <p:nvSpPr>
          <p:cNvPr id="27" name="Text 25"/>
          <p:cNvSpPr txBox="1"/>
          <p:nvPr/>
        </p:nvSpPr>
        <p:spPr>
          <a:xfrm>
            <a:off x="548640" y="5532120"/>
            <a:ext cx="310896" cy="310896"/>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1005840" y="5486400"/>
            <a:ext cx="10634472" cy="411480"/>
          </a:xfrm>
          <a:prstGeom prst="rect">
            <a:avLst/>
          </a:prstGeom>
          <a:noFill/>
          <a:ln/>
        </p:spPr>
        <p:txBody>
          <a:bodyPr wrap="square" rtlCol="0" anchor="ctr"/>
          <a:lstStyle/>
          <a:p>
            <a:pPr marL="0" indent="0">
              <a:buNone/>
            </a:pPr>
            <a:r>
              <a:rPr lang="en-US" sz="1350" dirty="0">
                <a:solidFill>
                  <a:srgbClr val="1F2D3D"/>
                </a:solidFill>
                <a:latin typeface="Calibri" pitchFamily="34" charset="0"/>
                <a:ea typeface="Calibri" pitchFamily="34" charset="-122"/>
                <a:cs typeface="Calibri" pitchFamily="34" charset="-120"/>
              </a:rPr>
              <a:t>Confirmation sent; intake and consent forms delivered before appointment day</a:t>
            </a:r>
            <a:endParaRPr lang="en-US" sz="1350" dirty="0"/>
          </a:p>
        </p:txBody>
      </p:sp>
      <p:sp>
        <p:nvSpPr>
          <p:cNvPr id="29" name="Text 27"/>
          <p:cNvSpPr txBox="1"/>
          <p:nvPr/>
        </p:nvSpPr>
        <p:spPr>
          <a:xfrm>
            <a:off x="457200" y="6492240"/>
            <a:ext cx="11274552" cy="274320"/>
          </a:xfrm>
          <a:prstGeom prst="rect">
            <a:avLst/>
          </a:prstGeom>
          <a:noFill/>
          <a:ln/>
        </p:spPr>
        <p:txBody>
          <a:bodyPr wrap="square" rtlCol="0" anchor="ctr"/>
          <a:lstStyle/>
          <a:p>
            <a:pPr marL="0" indent="0" algn="l">
              <a:buNone/>
            </a:pPr>
            <a:r>
              <a:rPr lang="en-US" sz="900" dirty="0">
                <a:solidFill>
                  <a:srgbClr val="5A6B72"/>
                </a:solidFill>
                <a:latin typeface="Calibri" pitchFamily="34" charset="0"/>
                <a:ea typeface="Calibri" pitchFamily="34" charset="-122"/>
                <a:cs typeface="Calibri" pitchFamily="34" charset="-120"/>
              </a:rPr>
              <a:t>Blossom Women's Health &amp; Wellness Clinic  •  Patient Onboarding &amp; Scheduling Workflow  •  OBS &amp; GYN / Women's Health Care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07262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7262F"/>
          </a:solidFill>
          <a:ln/>
        </p:spPr>
        <p:txBody>
          <a:bodyPr/>
          <a:lstStyle/>
          <a:p>
            <a:endParaRPr lang="en-US"/>
          </a:p>
        </p:txBody>
      </p:sp>
      <p:sp>
        <p:nvSpPr>
          <p:cNvPr id="3" name="Shape 1"/>
          <p:cNvSpPr/>
          <p:nvPr/>
        </p:nvSpPr>
        <p:spPr>
          <a:xfrm>
            <a:off x="-1097280" y="3931920"/>
            <a:ext cx="4023360" cy="4023360"/>
          </a:xfrm>
          <a:prstGeom prst="ellipse">
            <a:avLst/>
          </a:prstGeom>
          <a:solidFill>
            <a:srgbClr val="0B3D4C"/>
          </a:solidFill>
          <a:ln/>
        </p:spPr>
        <p:txBody>
          <a:bodyPr/>
          <a:lstStyle/>
          <a:p>
            <a:endParaRPr lang="en-US"/>
          </a:p>
        </p:txBody>
      </p:sp>
      <p:sp>
        <p:nvSpPr>
          <p:cNvPr id="4" name="Text 2"/>
          <p:cNvSpPr txBox="1"/>
          <p:nvPr/>
        </p:nvSpPr>
        <p:spPr>
          <a:xfrm>
            <a:off x="822960" y="2606040"/>
            <a:ext cx="100584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Shape 3"/>
          <p:cNvSpPr/>
          <p:nvPr/>
        </p:nvSpPr>
        <p:spPr>
          <a:xfrm>
            <a:off x="841248" y="3429000"/>
            <a:ext cx="640080" cy="45720"/>
          </a:xfrm>
          <a:prstGeom prst="rect">
            <a:avLst/>
          </a:prstGeom>
          <a:solidFill>
            <a:srgbClr val="4FD1E0"/>
          </a:solidFill>
          <a:ln/>
        </p:spPr>
        <p:txBody>
          <a:bodyPr/>
          <a:lstStyle/>
          <a:p>
            <a:endParaRPr lang="en-US"/>
          </a:p>
        </p:txBody>
      </p:sp>
      <p:sp>
        <p:nvSpPr>
          <p:cNvPr id="6" name="Text 4"/>
          <p:cNvSpPr txBox="1"/>
          <p:nvPr/>
        </p:nvSpPr>
        <p:spPr>
          <a:xfrm>
            <a:off x="822960" y="3657600"/>
            <a:ext cx="10058400" cy="457200"/>
          </a:xfrm>
          <a:prstGeom prst="rect">
            <a:avLst/>
          </a:prstGeom>
          <a:noFill/>
          <a:ln/>
        </p:spPr>
        <p:txBody>
          <a:bodyPr wrap="square" rtlCol="0" anchor="ctr"/>
          <a:lstStyle/>
          <a:p>
            <a:pPr marL="0" indent="0">
              <a:buNone/>
            </a:pPr>
            <a:r>
              <a:rPr lang="en-US" sz="1600" dirty="0">
                <a:solidFill>
                  <a:srgbClr val="F3D9DE"/>
                </a:solidFill>
                <a:latin typeface="Calibri" pitchFamily="34" charset="0"/>
                <a:ea typeface="Calibri" pitchFamily="34" charset="-122"/>
                <a:cs typeface="Calibri" pitchFamily="34" charset="-120"/>
              </a:rPr>
              <a:t>Patient Onboarding &amp; Scheduling Workflow  —  Blossom Women's Health &amp; Wellness Clinic</a:t>
            </a:r>
            <a:endParaRPr lang="en-US" sz="1600" dirty="0"/>
          </a:p>
        </p:txBody>
      </p:sp>
      <p:sp>
        <p:nvSpPr>
          <p:cNvPr id="7" name="Text 5"/>
          <p:cNvSpPr txBox="1"/>
          <p:nvPr/>
        </p:nvSpPr>
        <p:spPr>
          <a:xfrm>
            <a:off x="822960" y="6126480"/>
            <a:ext cx="5486400" cy="320040"/>
          </a:xfrm>
          <a:prstGeom prst="rect">
            <a:avLst/>
          </a:prstGeom>
          <a:noFill/>
          <a:ln/>
        </p:spPr>
        <p:txBody>
          <a:bodyPr wrap="square" rtlCol="0" anchor="ctr"/>
          <a:lstStyle/>
          <a:p>
            <a:pPr marL="0" indent="0">
              <a:buNone/>
            </a:pPr>
            <a:r>
              <a:rPr lang="en-US" sz="1100" b="1" kern="0" spc="150" dirty="0">
                <a:solidFill>
                  <a:srgbClr val="4FD1E0"/>
                </a:solidFill>
                <a:latin typeface="Calibri" pitchFamily="34" charset="0"/>
                <a:ea typeface="Calibri" pitchFamily="34" charset="-122"/>
                <a:cs typeface="Calibri" pitchFamily="34" charset="-120"/>
              </a:rPr>
              <a:t>OBS &amp; GYN / Women's Health Care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1211</Words>
  <Application>Microsoft Office PowerPoint</Application>
  <PresentationFormat>Widescreen</PresentationFormat>
  <Paragraphs>231</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Amaka Julieth Eya</cp:lastModifiedBy>
  <cp:revision>14</cp:revision>
  <dcterms:created xsi:type="dcterms:W3CDTF">2026-08-30T14:32:19Z</dcterms:created>
  <dcterms:modified xsi:type="dcterms:W3CDTF">2026-10-04T20:18:01Z</dcterms:modified>
</cp:coreProperties>
</file>